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73" r:id="rId3"/>
    <p:sldId id="257" r:id="rId4"/>
    <p:sldId id="274" r:id="rId5"/>
    <p:sldId id="275" r:id="rId6"/>
    <p:sldId id="283" r:id="rId7"/>
    <p:sldId id="276" r:id="rId8"/>
    <p:sldId id="284" r:id="rId9"/>
    <p:sldId id="277" r:id="rId10"/>
    <p:sldId id="282" r:id="rId11"/>
    <p:sldId id="279" r:id="rId12"/>
    <p:sldId id="278" r:id="rId13"/>
    <p:sldId id="290" r:id="rId14"/>
    <p:sldId id="281" r:id="rId15"/>
    <p:sldId id="280" r:id="rId16"/>
    <p:sldId id="291" r:id="rId17"/>
    <p:sldId id="285" r:id="rId18"/>
    <p:sldId id="286" r:id="rId19"/>
    <p:sldId id="296" r:id="rId20"/>
  </p:sldIdLst>
  <p:sldSz cx="18288000" cy="10287000"/>
  <p:notesSz cx="6858000" cy="9144000"/>
  <p:embeddedFontLst>
    <p:embeddedFont>
      <p:font typeface="Asap" panose="020B0604020202020204" charset="0"/>
      <p:regular r:id="rId21"/>
    </p:embeddedFont>
    <p:embeddedFont>
      <p:font typeface="Asap Medium" panose="020B0604020202020204" charset="0"/>
      <p:regular r:id="rId22"/>
    </p:embeddedFont>
    <p:embeddedFont>
      <p:font typeface="Cabin Bold" panose="020B0604020202020204" charset="0"/>
      <p:regular r:id="rId23"/>
    </p:embeddedFont>
    <p:embeddedFont>
      <p:font typeface="Calibri" panose="020F0502020204030204" pitchFamily="34" charset="0"/>
      <p:regular r:id="rId24"/>
      <p:bold r:id="rId25"/>
      <p:italic r:id="rId26"/>
      <p:boldItalic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2E9F"/>
    <a:srgbClr val="D7F9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8" d="100"/>
          <a:sy n="48" d="100"/>
        </p:scale>
        <p:origin x="348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slide" Target="slide18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firebase.google.com/docs/database/security" TargetMode="External"/><Relationship Id="rId2" Type="http://schemas.openxmlformats.org/officeDocument/2006/relationships/hyperlink" Target="https://firebase.google.com/docs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firebase.flutter.dev/docs/overview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 rot="5400000">
            <a:off x="14992757" y="3524398"/>
            <a:ext cx="6201261" cy="8347710"/>
            <a:chOff x="0" y="0"/>
            <a:chExt cx="3045089" cy="4099089"/>
          </a:xfrm>
          <a:solidFill>
            <a:srgbClr val="072E9F"/>
          </a:solidFill>
        </p:grpSpPr>
        <p:sp>
          <p:nvSpPr>
            <p:cNvPr id="6" name="Freeform 6"/>
            <p:cNvSpPr/>
            <p:nvPr/>
          </p:nvSpPr>
          <p:spPr>
            <a:xfrm>
              <a:off x="0" y="0"/>
              <a:ext cx="3045089" cy="4099089"/>
            </a:xfrm>
            <a:custGeom>
              <a:avLst/>
              <a:gdLst/>
              <a:ahLst/>
              <a:cxnLst/>
              <a:rect l="l" t="t" r="r" b="b"/>
              <a:pathLst>
                <a:path w="3045089" h="4099089">
                  <a:moveTo>
                    <a:pt x="3045089" y="4099089"/>
                  </a:moveTo>
                  <a:lnTo>
                    <a:pt x="1124331" y="4099089"/>
                  </a:lnTo>
                  <a:cubicBezTo>
                    <a:pt x="503428" y="4099089"/>
                    <a:pt x="0" y="3595661"/>
                    <a:pt x="0" y="2974758"/>
                  </a:cubicBezTo>
                  <a:lnTo>
                    <a:pt x="0" y="0"/>
                  </a:lnTo>
                  <a:lnTo>
                    <a:pt x="1920758" y="0"/>
                  </a:lnTo>
                  <a:cubicBezTo>
                    <a:pt x="2541788" y="0"/>
                    <a:pt x="3045089" y="503428"/>
                    <a:pt x="3045089" y="1124331"/>
                  </a:cubicBezTo>
                  <a:lnTo>
                    <a:pt x="3045089" y="4099089"/>
                  </a:lnTo>
                  <a:close/>
                </a:path>
              </a:pathLst>
            </a:custGeom>
            <a:grpFill/>
            <a:ln>
              <a:solidFill>
                <a:srgbClr val="0070C0"/>
              </a:solidFill>
            </a:ln>
          </p:spPr>
        </p:sp>
      </p:grpSp>
      <p:sp>
        <p:nvSpPr>
          <p:cNvPr id="7" name="Freeform 7"/>
          <p:cNvSpPr/>
          <p:nvPr/>
        </p:nvSpPr>
        <p:spPr>
          <a:xfrm rot="-5400000">
            <a:off x="14666153" y="5143500"/>
            <a:ext cx="7929006" cy="7929006"/>
          </a:xfrm>
          <a:custGeom>
            <a:avLst/>
            <a:gdLst/>
            <a:ahLst/>
            <a:cxnLst/>
            <a:rect l="l" t="t" r="r" b="b"/>
            <a:pathLst>
              <a:path w="7929006" h="7929006">
                <a:moveTo>
                  <a:pt x="0" y="0"/>
                </a:moveTo>
                <a:lnTo>
                  <a:pt x="7929006" y="0"/>
                </a:lnTo>
                <a:lnTo>
                  <a:pt x="7929006" y="7929006"/>
                </a:lnTo>
                <a:lnTo>
                  <a:pt x="0" y="79290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990600" y="369094"/>
            <a:ext cx="16916400" cy="4228527"/>
            <a:chOff x="0" y="-66675"/>
            <a:chExt cx="13392780" cy="5638036"/>
          </a:xfrm>
        </p:grpSpPr>
        <p:sp>
          <p:nvSpPr>
            <p:cNvPr id="9" name="TextBox 9"/>
            <p:cNvSpPr txBox="1"/>
            <p:nvPr/>
          </p:nvSpPr>
          <p:spPr>
            <a:xfrm>
              <a:off x="0" y="-66675"/>
              <a:ext cx="13392780" cy="193326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13101"/>
                </a:lnSpc>
              </a:pPr>
              <a:endParaRPr lang="en-US" sz="6000" b="1">
                <a:solidFill>
                  <a:srgbClr val="072E9F"/>
                </a:solidFill>
                <a:latin typeface="Cabin Bold"/>
                <a:ea typeface="Cabin Bold"/>
                <a:cs typeface="Cabin Bold"/>
                <a:sym typeface="Cabin Bold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4856475"/>
              <a:ext cx="9676250" cy="7148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479"/>
                </a:lnSpc>
              </a:pPr>
              <a:endParaRPr lang="en-US" sz="3199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endParaRP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450478" y="9197507"/>
            <a:ext cx="4258487" cy="292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70"/>
              </a:lnSpc>
              <a:spcBef>
                <a:spcPct val="0"/>
              </a:spcBef>
            </a:pPr>
            <a:endParaRPr lang="en-US" sz="1900">
              <a:solidFill>
                <a:srgbClr val="000000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732523" y="1102671"/>
            <a:ext cx="3762018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</a:pPr>
            <a:endParaRPr lang="en-US" sz="2400" b="1" u="none">
              <a:solidFill>
                <a:srgbClr val="000000"/>
              </a:solidFill>
              <a:latin typeface="Asap Medium"/>
              <a:ea typeface="Asap Medium"/>
              <a:cs typeface="Asap Medium"/>
              <a:sym typeface="Asap Medium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A93535F-BF55-4E94-8300-8510C4E9CE29}"/>
              </a:ext>
            </a:extLst>
          </p:cNvPr>
          <p:cNvSpPr txBox="1"/>
          <p:nvPr/>
        </p:nvSpPr>
        <p:spPr>
          <a:xfrm>
            <a:off x="1287266" y="4664471"/>
            <a:ext cx="12632266" cy="22763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sz="5000" b="1">
                <a:solidFill>
                  <a:srgbClr val="072E9F"/>
                </a:solidFill>
              </a:rPr>
              <a:t>TRƯƠNG VĂN TÚ</a:t>
            </a:r>
          </a:p>
          <a:p>
            <a:pPr>
              <a:lnSpc>
                <a:spcPct val="150000"/>
              </a:lnSpc>
            </a:pPr>
            <a:r>
              <a:rPr lang="vi-VN" sz="5000" b="1">
                <a:solidFill>
                  <a:srgbClr val="072E9F"/>
                </a:solidFill>
              </a:rPr>
              <a:t>TRẦN ĐÌNH QUANG NHẬT</a:t>
            </a:r>
            <a:endParaRPr lang="en-US" sz="5000" b="1">
              <a:solidFill>
                <a:srgbClr val="072E9F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20122DD-4DAA-4AD8-A2C1-E0A9C8FD6237}"/>
              </a:ext>
            </a:extLst>
          </p:cNvPr>
          <p:cNvSpPr txBox="1"/>
          <p:nvPr/>
        </p:nvSpPr>
        <p:spPr>
          <a:xfrm>
            <a:off x="1292178" y="7980868"/>
            <a:ext cx="1173802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5000" b="1">
                <a:solidFill>
                  <a:srgbClr val="072E9F"/>
                </a:solidFill>
              </a:rPr>
              <a:t>GVHD: TS. NGUYỄN DUY NHẬT VIỄN</a:t>
            </a:r>
            <a:endParaRPr lang="en-US" sz="5000" b="1">
              <a:solidFill>
                <a:srgbClr val="072E9F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F7E2981-234B-47D6-AB14-F302C1D64A9F}"/>
              </a:ext>
            </a:extLst>
          </p:cNvPr>
          <p:cNvSpPr txBox="1"/>
          <p:nvPr/>
        </p:nvSpPr>
        <p:spPr>
          <a:xfrm>
            <a:off x="723900" y="942899"/>
            <a:ext cx="17449800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6500" b="1">
                <a:ln w="0"/>
                <a:solidFill>
                  <a:srgbClr val="072E9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BÁO CÁO: LẬP TRÌNH ĐA NỀN TẢNG</a:t>
            </a:r>
            <a:endParaRPr lang="en-US" sz="6500" b="1">
              <a:ln w="0"/>
              <a:solidFill>
                <a:srgbClr val="072E9F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627A0C4-232C-4986-874A-D0A13F305501}"/>
              </a:ext>
            </a:extLst>
          </p:cNvPr>
          <p:cNvSpPr txBox="1"/>
          <p:nvPr/>
        </p:nvSpPr>
        <p:spPr>
          <a:xfrm>
            <a:off x="1292178" y="2770829"/>
            <a:ext cx="15703644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6500" b="1">
                <a:solidFill>
                  <a:srgbClr val="072E9F"/>
                </a:solidFill>
              </a:rPr>
              <a:t>FIREBASE REALTIME DATABASE</a:t>
            </a:r>
            <a:endParaRPr lang="en-US" sz="6500" b="1">
              <a:solidFill>
                <a:srgbClr val="072E9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DBAD05-6442-4169-8909-866C1034CFBA}"/>
              </a:ext>
            </a:extLst>
          </p:cNvPr>
          <p:cNvSpPr txBox="1"/>
          <p:nvPr/>
        </p:nvSpPr>
        <p:spPr>
          <a:xfrm>
            <a:off x="762000" y="571500"/>
            <a:ext cx="11811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6000" b="1">
                <a:solidFill>
                  <a:srgbClr val="072E9F"/>
                </a:solidFill>
              </a:rPr>
              <a:t>MỤC TIÊU ĐỀ TÀI</a:t>
            </a:r>
            <a:endParaRPr lang="en-US" sz="6000" b="1">
              <a:solidFill>
                <a:srgbClr val="072E9F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606EC2B-9BBB-4367-B139-649A9B04C910}"/>
              </a:ext>
            </a:extLst>
          </p:cNvPr>
          <p:cNvSpPr/>
          <p:nvPr/>
        </p:nvSpPr>
        <p:spPr>
          <a:xfrm>
            <a:off x="1981200" y="2933700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149AE8-3101-4651-A83E-5A7106266204}"/>
              </a:ext>
            </a:extLst>
          </p:cNvPr>
          <p:cNvSpPr txBox="1"/>
          <p:nvPr/>
        </p:nvSpPr>
        <p:spPr>
          <a:xfrm>
            <a:off x="2362200" y="2781300"/>
            <a:ext cx="1402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>
                <a:latin typeface="Arial" panose="020B0604020202020204" pitchFamily="34" charset="0"/>
                <a:cs typeface="Arial" panose="020B0604020202020204" pitchFamily="34" charset="0"/>
              </a:rPr>
              <a:t>Tìm hiểu về Firebase Realtime Database.</a:t>
            </a:r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9DB29D4-9F9B-4809-9B4A-3A2FB2E432CD}"/>
              </a:ext>
            </a:extLst>
          </p:cNvPr>
          <p:cNvSpPr/>
          <p:nvPr/>
        </p:nvSpPr>
        <p:spPr>
          <a:xfrm>
            <a:off x="1968500" y="4205645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3C1BC1-B52E-44F7-9B23-11247B461FC4}"/>
              </a:ext>
            </a:extLst>
          </p:cNvPr>
          <p:cNvSpPr txBox="1"/>
          <p:nvPr/>
        </p:nvSpPr>
        <p:spPr>
          <a:xfrm>
            <a:off x="2349500" y="4053245"/>
            <a:ext cx="1402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>
                <a:latin typeface="Arial" panose="020B0604020202020204" pitchFamily="34" charset="0"/>
                <a:cs typeface="Arial" panose="020B0604020202020204" pitchFamily="34" charset="0"/>
              </a:rPr>
              <a:t>Tích hợp cơ sở dữ liệu realtime vào ứng dụng Flutter.</a:t>
            </a:r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A0F3A9B-A3CD-43FC-ADEC-22F6A5971A1B}"/>
              </a:ext>
            </a:extLst>
          </p:cNvPr>
          <p:cNvSpPr/>
          <p:nvPr/>
        </p:nvSpPr>
        <p:spPr>
          <a:xfrm>
            <a:off x="1981200" y="5629990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C382B6-530F-4AF6-B0A5-88763A2F9C62}"/>
              </a:ext>
            </a:extLst>
          </p:cNvPr>
          <p:cNvSpPr txBox="1"/>
          <p:nvPr/>
        </p:nvSpPr>
        <p:spPr>
          <a:xfrm>
            <a:off x="2362200" y="5477590"/>
            <a:ext cx="1402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latin typeface="Arial" panose="020B0604020202020204" pitchFamily="34" charset="0"/>
                <a:cs typeface="Arial" panose="020B0604020202020204" pitchFamily="34" charset="0"/>
              </a:rPr>
              <a:t>Thực hiện các chức năng CRUD và đồng bộ dữ liệu tức thời.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25C8058-6F04-4E1E-B184-CC44A2BCB749}"/>
              </a:ext>
            </a:extLst>
          </p:cNvPr>
          <p:cNvSpPr/>
          <p:nvPr/>
        </p:nvSpPr>
        <p:spPr>
          <a:xfrm>
            <a:off x="1981200" y="7092435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140344-B4EC-4B45-9B3A-1F31F19F66F6}"/>
              </a:ext>
            </a:extLst>
          </p:cNvPr>
          <p:cNvSpPr txBox="1"/>
          <p:nvPr/>
        </p:nvSpPr>
        <p:spPr>
          <a:xfrm>
            <a:off x="2362200" y="6940035"/>
            <a:ext cx="1402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latin typeface="Arial" panose="020B0604020202020204" pitchFamily="34" charset="0"/>
                <a:cs typeface="Arial" panose="020B0604020202020204" pitchFamily="34" charset="0"/>
              </a:rPr>
              <a:t>Xây dựng ứng dụng Chat Realtime có bảo mật và hoạt động offline.</a:t>
            </a:r>
          </a:p>
        </p:txBody>
      </p:sp>
    </p:spTree>
    <p:extLst>
      <p:ext uri="{BB962C8B-B14F-4D97-AF65-F5344CB8AC3E}">
        <p14:creationId xmlns:p14="http://schemas.microsoft.com/office/powerpoint/2010/main" val="2180729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2971800" y="2334224"/>
            <a:ext cx="3461600" cy="1180125"/>
            <a:chOff x="0" y="-76200"/>
            <a:chExt cx="4615466" cy="1573499"/>
          </a:xfrm>
        </p:grpSpPr>
        <p:sp>
          <p:nvSpPr>
            <p:cNvPr id="8" name="TextBox 8"/>
            <p:cNvSpPr txBox="1"/>
            <p:nvPr/>
          </p:nvSpPr>
          <p:spPr>
            <a:xfrm>
              <a:off x="0" y="-76200"/>
              <a:ext cx="4615466" cy="7794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900"/>
                </a:lnSpc>
                <a:spcBef>
                  <a:spcPct val="0"/>
                </a:spcBef>
              </a:pPr>
              <a:r>
                <a:rPr lang="vi-VN" sz="3500" b="1">
                  <a:solidFill>
                    <a:srgbClr val="072E9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01</a:t>
              </a:r>
              <a:endParaRPr lang="en-US" sz="3500" b="1" u="none">
                <a:solidFill>
                  <a:srgbClr val="072E9F"/>
                </a:solidFill>
                <a:latin typeface="Cabin Bold"/>
                <a:ea typeface="Cabin Bold"/>
                <a:cs typeface="Cabin Bold"/>
                <a:sym typeface="Cabin Bold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872598"/>
              <a:ext cx="4615466" cy="6247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3919"/>
                </a:lnSpc>
                <a:spcBef>
                  <a:spcPct val="0"/>
                </a:spcBef>
              </a:pPr>
              <a:r>
                <a:rPr lang="vi-VN" sz="3200"/>
                <a:t>Cơ sở lý thuyết</a:t>
              </a:r>
              <a:endParaRPr lang="en-US" sz="3200" u="sng">
                <a:solidFill>
                  <a:srgbClr val="000000"/>
                </a:solidFill>
                <a:latin typeface="Arial" panose="020B0604020202020204" pitchFamily="34" charset="0"/>
                <a:ea typeface="Asap"/>
                <a:cs typeface="Arial" panose="020B0604020202020204" pitchFamily="34" charset="0"/>
                <a:sym typeface="Asap"/>
                <a:hlinkClick r:id="rId2" action="ppaction://hlinksldjump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971800" y="4088628"/>
            <a:ext cx="5410200" cy="1191859"/>
            <a:chOff x="0" y="-76200"/>
            <a:chExt cx="7213600" cy="1589144"/>
          </a:xfrm>
        </p:grpSpPr>
        <p:sp>
          <p:nvSpPr>
            <p:cNvPr id="14" name="TextBox 14"/>
            <p:cNvSpPr txBox="1"/>
            <p:nvPr/>
          </p:nvSpPr>
          <p:spPr>
            <a:xfrm>
              <a:off x="0" y="-76200"/>
              <a:ext cx="4615466" cy="7794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900"/>
                </a:lnSpc>
                <a:spcBef>
                  <a:spcPct val="0"/>
                </a:spcBef>
              </a:pPr>
              <a:r>
                <a:rPr lang="vi-VN" sz="3500" b="1">
                  <a:solidFill>
                    <a:srgbClr val="072E9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02</a:t>
              </a:r>
              <a:endParaRPr lang="en-US" sz="3500" b="1">
                <a:solidFill>
                  <a:srgbClr val="072E9F"/>
                </a:solidFill>
                <a:latin typeface="Cabin Bold"/>
                <a:ea typeface="Cabin Bold"/>
                <a:cs typeface="Cabin Bold"/>
                <a:sym typeface="Cabin Bold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872598"/>
              <a:ext cx="7213600" cy="64034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>
                <a:lnSpc>
                  <a:spcPts val="3919"/>
                </a:lnSpc>
                <a:spcBef>
                  <a:spcPct val="0"/>
                </a:spcBef>
              </a:pPr>
              <a:r>
                <a:rPr lang="en-US" sz="3200"/>
                <a:t>Triển khai và demo ứng dụng</a:t>
              </a:r>
              <a:endParaRPr lang="en-US" sz="3200" u="sng">
                <a:solidFill>
                  <a:srgbClr val="000000"/>
                </a:solidFill>
                <a:latin typeface="Arial" panose="020B0604020202020204" pitchFamily="34" charset="0"/>
                <a:ea typeface="Asap"/>
                <a:cs typeface="Arial" panose="020B0604020202020204" pitchFamily="34" charset="0"/>
                <a:sym typeface="Asap"/>
                <a:hlinkClick r:id="rId2" action="ppaction://hlinksldjump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971800" y="5824265"/>
            <a:ext cx="3599681" cy="1179676"/>
            <a:chOff x="0" y="-76200"/>
            <a:chExt cx="4799575" cy="1572900"/>
          </a:xfrm>
        </p:grpSpPr>
        <p:sp>
          <p:nvSpPr>
            <p:cNvPr id="20" name="TextBox 20"/>
            <p:cNvSpPr txBox="1"/>
            <p:nvPr/>
          </p:nvSpPr>
          <p:spPr>
            <a:xfrm>
              <a:off x="0" y="-76200"/>
              <a:ext cx="4799575" cy="7794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900"/>
                </a:lnSpc>
                <a:spcBef>
                  <a:spcPct val="0"/>
                </a:spcBef>
              </a:pPr>
              <a:r>
                <a:rPr lang="vi-VN" sz="3500" b="1">
                  <a:solidFill>
                    <a:srgbClr val="072E9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03</a:t>
              </a:r>
              <a:endParaRPr lang="en-US" sz="3500" b="1">
                <a:solidFill>
                  <a:srgbClr val="072E9F"/>
                </a:solidFill>
                <a:latin typeface="Cabin Bold"/>
                <a:ea typeface="Cabin Bold"/>
                <a:cs typeface="Cabin Bold"/>
                <a:sym typeface="Cabin Bold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872598"/>
              <a:ext cx="4799575" cy="6241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3919"/>
                </a:lnSpc>
                <a:spcBef>
                  <a:spcPct val="0"/>
                </a:spcBef>
              </a:pPr>
              <a:r>
                <a:rPr lang="vi-VN" sz="3200"/>
                <a:t>Kết quả đạt được</a:t>
              </a:r>
              <a:endParaRPr lang="en-US" sz="3200" u="sng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  <a:hlinkClick r:id="rId3" action="ppaction://hlinksldjump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2971800" y="7583227"/>
            <a:ext cx="4397800" cy="1191859"/>
            <a:chOff x="0" y="-76200"/>
            <a:chExt cx="5863733" cy="1589144"/>
          </a:xfrm>
        </p:grpSpPr>
        <p:sp>
          <p:nvSpPr>
            <p:cNvPr id="26" name="TextBox 26"/>
            <p:cNvSpPr txBox="1"/>
            <p:nvPr/>
          </p:nvSpPr>
          <p:spPr>
            <a:xfrm>
              <a:off x="0" y="-76200"/>
              <a:ext cx="4615466" cy="7794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900"/>
                </a:lnSpc>
                <a:spcBef>
                  <a:spcPct val="0"/>
                </a:spcBef>
              </a:pPr>
              <a:r>
                <a:rPr lang="vi-VN" sz="3500" b="1">
                  <a:solidFill>
                    <a:srgbClr val="072E9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04</a:t>
              </a:r>
              <a:endParaRPr lang="en-US" sz="3500" b="1">
                <a:solidFill>
                  <a:srgbClr val="072E9F"/>
                </a:solidFill>
                <a:latin typeface="Cabin Bold"/>
                <a:ea typeface="Cabin Bold"/>
                <a:cs typeface="Cabin Bold"/>
                <a:sym typeface="Cabin Bold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872598"/>
              <a:ext cx="5863733" cy="64034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>
                <a:lnSpc>
                  <a:spcPts val="3919"/>
                </a:lnSpc>
                <a:spcBef>
                  <a:spcPct val="0"/>
                </a:spcBef>
              </a:pPr>
              <a:r>
                <a:rPr lang="en-US" sz="3200"/>
                <a:t>Tài liệu tham khảo</a:t>
              </a:r>
              <a:endParaRPr lang="en-US" sz="3200" u="sng">
                <a:solidFill>
                  <a:srgbClr val="000000"/>
                </a:solidFill>
                <a:latin typeface="Arial" panose="020B0604020202020204" pitchFamily="34" charset="0"/>
                <a:ea typeface="Asap"/>
                <a:cs typeface="Arial" panose="020B0604020202020204" pitchFamily="34" charset="0"/>
                <a:sym typeface="Asap"/>
                <a:hlinkClick r:id="" action="ppaction://noaction"/>
              </a:endParaRP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3EA077C7-C0E2-4DD9-AA99-8F9026F1EC0E}"/>
              </a:ext>
            </a:extLst>
          </p:cNvPr>
          <p:cNvSpPr txBox="1"/>
          <p:nvPr/>
        </p:nvSpPr>
        <p:spPr>
          <a:xfrm>
            <a:off x="919534" y="606962"/>
            <a:ext cx="11201400" cy="1015663"/>
          </a:xfrm>
          <a:prstGeom prst="rect">
            <a:avLst/>
          </a:prstGeom>
          <a:solidFill>
            <a:srgbClr val="D7F9FD"/>
          </a:solidFill>
        </p:spPr>
        <p:txBody>
          <a:bodyPr wrap="square" rtlCol="0">
            <a:spAutoFit/>
          </a:bodyPr>
          <a:lstStyle/>
          <a:p>
            <a:r>
              <a:rPr lang="vi-VN" sz="6000" b="1">
                <a:solidFill>
                  <a:srgbClr val="072E9F"/>
                </a:solidFill>
              </a:rPr>
              <a:t>NỘI DUNG CHÍNH</a:t>
            </a:r>
            <a:endParaRPr lang="en-US" sz="6000" b="1">
              <a:solidFill>
                <a:srgbClr val="072E9F"/>
              </a:solidFill>
            </a:endParaRPr>
          </a:p>
        </p:txBody>
      </p:sp>
      <p:grpSp>
        <p:nvGrpSpPr>
          <p:cNvPr id="39" name="Group 7">
            <a:extLst>
              <a:ext uri="{FF2B5EF4-FFF2-40B4-BE49-F238E27FC236}">
                <a16:creationId xmlns:a16="http://schemas.microsoft.com/office/drawing/2014/main" id="{2A26E006-4993-4A18-84BE-71D468088B29}"/>
              </a:ext>
            </a:extLst>
          </p:cNvPr>
          <p:cNvGrpSpPr/>
          <p:nvPr/>
        </p:nvGrpSpPr>
        <p:grpSpPr>
          <a:xfrm>
            <a:off x="9601200" y="1622625"/>
            <a:ext cx="4267200" cy="1166403"/>
            <a:chOff x="0" y="-76200"/>
            <a:chExt cx="5689599" cy="1555203"/>
          </a:xfrm>
        </p:grpSpPr>
        <p:sp>
          <p:nvSpPr>
            <p:cNvPr id="40" name="TextBox 8">
              <a:extLst>
                <a:ext uri="{FF2B5EF4-FFF2-40B4-BE49-F238E27FC236}">
                  <a16:creationId xmlns:a16="http://schemas.microsoft.com/office/drawing/2014/main" id="{D24B0C8C-CE3A-43B2-9610-77F23C62C646}"/>
                </a:ext>
              </a:extLst>
            </p:cNvPr>
            <p:cNvSpPr txBox="1"/>
            <p:nvPr/>
          </p:nvSpPr>
          <p:spPr>
            <a:xfrm>
              <a:off x="0" y="-76200"/>
              <a:ext cx="4615466" cy="7794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900"/>
                </a:lnSpc>
                <a:spcBef>
                  <a:spcPct val="0"/>
                </a:spcBef>
              </a:pPr>
              <a:endParaRPr lang="en-US" sz="3500" b="1" u="none">
                <a:solidFill>
                  <a:srgbClr val="072E9F"/>
                </a:solidFill>
                <a:latin typeface="Cabin Bold"/>
                <a:ea typeface="Cabin Bold"/>
                <a:cs typeface="Cabin Bold"/>
                <a:sym typeface="Cabin Bold"/>
              </a:endParaRPr>
            </a:p>
          </p:txBody>
        </p:sp>
        <p:sp>
          <p:nvSpPr>
            <p:cNvPr id="41" name="TextBox 9">
              <a:extLst>
                <a:ext uri="{FF2B5EF4-FFF2-40B4-BE49-F238E27FC236}">
                  <a16:creationId xmlns:a16="http://schemas.microsoft.com/office/drawing/2014/main" id="{1B7237B3-126E-4E81-803B-91DC874AEC80}"/>
                </a:ext>
              </a:extLst>
            </p:cNvPr>
            <p:cNvSpPr txBox="1"/>
            <p:nvPr/>
          </p:nvSpPr>
          <p:spPr>
            <a:xfrm>
              <a:off x="0" y="872598"/>
              <a:ext cx="5689599" cy="60640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>
                <a:lnSpc>
                  <a:spcPts val="3919"/>
                </a:lnSpc>
                <a:spcBef>
                  <a:spcPct val="0"/>
                </a:spcBef>
              </a:pPr>
              <a:endParaRPr lang="en-US" sz="2799" u="sng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  <a:hlinkClick r:id="rId2" action="ppaction://hlinksldjump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E589162C-F2E6-43A1-A48C-EEC25D1E1AE9}"/>
              </a:ext>
            </a:extLst>
          </p:cNvPr>
          <p:cNvSpPr txBox="1"/>
          <p:nvPr/>
        </p:nvSpPr>
        <p:spPr>
          <a:xfrm>
            <a:off x="685800" y="727204"/>
            <a:ext cx="1767840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5500" b="1">
                <a:solidFill>
                  <a:srgbClr val="072E9F"/>
                </a:solidFill>
              </a:rPr>
              <a:t>GIỚI THIỆU VỀ FIREBASE REALTIME DATABASE</a:t>
            </a:r>
            <a:endParaRPr lang="en-US" sz="5500" b="1">
              <a:solidFill>
                <a:srgbClr val="072E9F"/>
              </a:solidFill>
            </a:endParaRPr>
          </a:p>
          <a:p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7FEC32-A395-43D1-A5B8-6A764D4CF37F}"/>
              </a:ext>
            </a:extLst>
          </p:cNvPr>
          <p:cNvSpPr/>
          <p:nvPr/>
        </p:nvSpPr>
        <p:spPr>
          <a:xfrm>
            <a:off x="1905000" y="2933700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670753-519A-4DF2-9199-C8F3AE88B32F}"/>
              </a:ext>
            </a:extLst>
          </p:cNvPr>
          <p:cNvSpPr txBox="1"/>
          <p:nvPr/>
        </p:nvSpPr>
        <p:spPr>
          <a:xfrm>
            <a:off x="2286000" y="2781300"/>
            <a:ext cx="1402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>
                <a:latin typeface="Arial" panose="020B0604020202020204" pitchFamily="34" charset="0"/>
                <a:cs typeface="Arial" panose="020B0604020202020204" pitchFamily="34" charset="0"/>
              </a:rPr>
              <a:t>Là cơ sở dữ liệu NoSQL dạng cây JSON.</a:t>
            </a:r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121C092-E16B-4632-B21F-59953FFD1716}"/>
              </a:ext>
            </a:extLst>
          </p:cNvPr>
          <p:cNvSpPr/>
          <p:nvPr/>
        </p:nvSpPr>
        <p:spPr>
          <a:xfrm>
            <a:off x="1892300" y="4205645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488281-0AEF-4E02-B0CB-32D8952F1EAD}"/>
              </a:ext>
            </a:extLst>
          </p:cNvPr>
          <p:cNvSpPr txBox="1"/>
          <p:nvPr/>
        </p:nvSpPr>
        <p:spPr>
          <a:xfrm>
            <a:off x="2273300" y="4053245"/>
            <a:ext cx="1402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>
                <a:latin typeface="Arial" panose="020B0604020202020204" pitchFamily="34" charset="0"/>
                <a:cs typeface="Arial" panose="020B0604020202020204" pitchFamily="34" charset="0"/>
              </a:rPr>
              <a:t>Cho phép lưu trữ và đồng bộ dữ liệu theo thời gian thực.</a:t>
            </a:r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7B48DFA-E573-48A8-8953-0CB93A79C4CE}"/>
              </a:ext>
            </a:extLst>
          </p:cNvPr>
          <p:cNvSpPr/>
          <p:nvPr/>
        </p:nvSpPr>
        <p:spPr>
          <a:xfrm>
            <a:off x="1905000" y="5629990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866CA3-BE5F-40CB-A4BA-BFA1E1978C0D}"/>
              </a:ext>
            </a:extLst>
          </p:cNvPr>
          <p:cNvSpPr txBox="1"/>
          <p:nvPr/>
        </p:nvSpPr>
        <p:spPr>
          <a:xfrm>
            <a:off x="2286000" y="5477590"/>
            <a:ext cx="1402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latin typeface="Arial" panose="020B0604020202020204" pitchFamily="34" charset="0"/>
                <a:cs typeface="Arial" panose="020B0604020202020204" pitchFamily="34" charset="0"/>
              </a:rPr>
              <a:t>Phù hợp cho ứng dụng chat, game, cộng tác trực tuyến.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0EF1243-2817-4034-8D36-1CB0DEE08DA8}"/>
              </a:ext>
            </a:extLst>
          </p:cNvPr>
          <p:cNvSpPr/>
          <p:nvPr/>
        </p:nvSpPr>
        <p:spPr>
          <a:xfrm>
            <a:off x="1905000" y="7092435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A7D6656-8886-4076-9D97-DF0AE2338BA7}"/>
              </a:ext>
            </a:extLst>
          </p:cNvPr>
          <p:cNvSpPr txBox="1"/>
          <p:nvPr/>
        </p:nvSpPr>
        <p:spPr>
          <a:xfrm>
            <a:off x="2286000" y="6940035"/>
            <a:ext cx="1402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latin typeface="Arial" panose="020B0604020202020204" pitchFamily="34" charset="0"/>
                <a:cs typeface="Arial" panose="020B0604020202020204" pitchFamily="34" charset="0"/>
              </a:rPr>
              <a:t>Tự động cập nhật dữ liệu khi có thay đổi ở server.</a:t>
            </a:r>
          </a:p>
        </p:txBody>
      </p:sp>
    </p:spTree>
    <p:extLst>
      <p:ext uri="{BB962C8B-B14F-4D97-AF65-F5344CB8AC3E}">
        <p14:creationId xmlns:p14="http://schemas.microsoft.com/office/powerpoint/2010/main" val="3989586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88926C-CFA7-4C58-86A2-29F2E76CFD35}"/>
              </a:ext>
            </a:extLst>
          </p:cNvPr>
          <p:cNvSpPr txBox="1"/>
          <p:nvPr/>
        </p:nvSpPr>
        <p:spPr>
          <a:xfrm>
            <a:off x="685800" y="571500"/>
            <a:ext cx="15544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6000" b="1">
                <a:solidFill>
                  <a:srgbClr val="072E9F"/>
                </a:solidFill>
              </a:rPr>
              <a:t>CÁC KHÁI NIỆM CƠ BẢN</a:t>
            </a:r>
            <a:endParaRPr lang="en-US" sz="6000" b="1">
              <a:solidFill>
                <a:srgbClr val="072E9F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0EA6095-8AF1-4894-95D2-946F648D33E5}"/>
              </a:ext>
            </a:extLst>
          </p:cNvPr>
          <p:cNvSpPr/>
          <p:nvPr/>
        </p:nvSpPr>
        <p:spPr>
          <a:xfrm>
            <a:off x="1752600" y="3009900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2188BF-9ED6-4028-808F-0D8C0CC12AB0}"/>
              </a:ext>
            </a:extLst>
          </p:cNvPr>
          <p:cNvSpPr txBox="1"/>
          <p:nvPr/>
        </p:nvSpPr>
        <p:spPr>
          <a:xfrm>
            <a:off x="2133600" y="2857500"/>
            <a:ext cx="1402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latin typeface="Arial" panose="020B0604020202020204" pitchFamily="34" charset="0"/>
                <a:cs typeface="Arial" panose="020B0604020202020204" pitchFamily="34" charset="0"/>
              </a:rPr>
              <a:t>DatabaseReference</a:t>
            </a:r>
            <a:r>
              <a:rPr lang="en-US" sz="3200">
                <a:latin typeface="Arial" panose="020B0604020202020204" pitchFamily="34" charset="0"/>
                <a:cs typeface="Arial" panose="020B0604020202020204" pitchFamily="34" charset="0"/>
              </a:rPr>
              <a:t>: Tham chiếu tới một vị trí trong database.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D297DE4-B98E-4016-AA06-BEBE726F423F}"/>
              </a:ext>
            </a:extLst>
          </p:cNvPr>
          <p:cNvSpPr/>
          <p:nvPr/>
        </p:nvSpPr>
        <p:spPr>
          <a:xfrm>
            <a:off x="1739900" y="4281845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E87AAD-2FDC-4BB1-B7CC-467DFECF3BB4}"/>
              </a:ext>
            </a:extLst>
          </p:cNvPr>
          <p:cNvSpPr txBox="1"/>
          <p:nvPr/>
        </p:nvSpPr>
        <p:spPr>
          <a:xfrm>
            <a:off x="2120900" y="4129445"/>
            <a:ext cx="1402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latin typeface="Arial" panose="020B0604020202020204" pitchFamily="34" charset="0"/>
                <a:cs typeface="Arial" panose="020B0604020202020204" pitchFamily="34" charset="0"/>
              </a:rPr>
              <a:t>DatabaseEvent</a:t>
            </a:r>
            <a:r>
              <a:rPr lang="en-US" sz="3200">
                <a:latin typeface="Arial" panose="020B0604020202020204" pitchFamily="34" charset="0"/>
                <a:cs typeface="Arial" panose="020B0604020202020204" pitchFamily="34" charset="0"/>
              </a:rPr>
              <a:t>: Sự kiện xảy ra khi dữ liệu tại vị trí đó thay đổi.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DF11306-E239-4843-B347-6039B8445049}"/>
              </a:ext>
            </a:extLst>
          </p:cNvPr>
          <p:cNvSpPr/>
          <p:nvPr/>
        </p:nvSpPr>
        <p:spPr>
          <a:xfrm>
            <a:off x="1752600" y="5706190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87861C-8583-447F-A445-3F63781A554B}"/>
              </a:ext>
            </a:extLst>
          </p:cNvPr>
          <p:cNvSpPr txBox="1"/>
          <p:nvPr/>
        </p:nvSpPr>
        <p:spPr>
          <a:xfrm>
            <a:off x="2133600" y="5553790"/>
            <a:ext cx="1402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latin typeface="Arial" panose="020B0604020202020204" pitchFamily="34" charset="0"/>
                <a:cs typeface="Arial" panose="020B0604020202020204" pitchFamily="34" charset="0"/>
              </a:rPr>
              <a:t>onValue()</a:t>
            </a:r>
            <a:r>
              <a:rPr lang="en-US" sz="3200">
                <a:latin typeface="Arial" panose="020B0604020202020204" pitchFamily="34" charset="0"/>
                <a:cs typeface="Arial" panose="020B0604020202020204" pitchFamily="34" charset="0"/>
              </a:rPr>
              <a:t>: Theo dõi dữ liệu realtime.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B0528CC-941A-47C6-ADF2-77DD28E7FF6E}"/>
              </a:ext>
            </a:extLst>
          </p:cNvPr>
          <p:cNvSpPr/>
          <p:nvPr/>
        </p:nvSpPr>
        <p:spPr>
          <a:xfrm>
            <a:off x="1752600" y="6976527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1F2F60-EC97-44FB-914D-4E20414EB2A2}"/>
              </a:ext>
            </a:extLst>
          </p:cNvPr>
          <p:cNvSpPr txBox="1"/>
          <p:nvPr/>
        </p:nvSpPr>
        <p:spPr>
          <a:xfrm>
            <a:off x="2133600" y="6824127"/>
            <a:ext cx="1402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latin typeface="Arial" panose="020B0604020202020204" pitchFamily="34" charset="0"/>
                <a:cs typeface="Arial" panose="020B0604020202020204" pitchFamily="34" charset="0"/>
              </a:rPr>
              <a:t>set(), update(), remove()</a:t>
            </a:r>
            <a:r>
              <a:rPr lang="en-US" sz="3200">
                <a:latin typeface="Arial" panose="020B0604020202020204" pitchFamily="34" charset="0"/>
                <a:cs typeface="Arial" panose="020B0604020202020204" pitchFamily="34" charset="0"/>
              </a:rPr>
              <a:t>: Ghi, cập nhật, xoá dữ liệu.</a:t>
            </a:r>
          </a:p>
        </p:txBody>
      </p:sp>
    </p:spTree>
    <p:extLst>
      <p:ext uri="{BB962C8B-B14F-4D97-AF65-F5344CB8AC3E}">
        <p14:creationId xmlns:p14="http://schemas.microsoft.com/office/powerpoint/2010/main" val="1995351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7C87AE-EE89-482C-BB90-5DED86C517F7}"/>
              </a:ext>
            </a:extLst>
          </p:cNvPr>
          <p:cNvSpPr txBox="1"/>
          <p:nvPr/>
        </p:nvSpPr>
        <p:spPr>
          <a:xfrm>
            <a:off x="685800" y="434519"/>
            <a:ext cx="17449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6000" b="1">
                <a:solidFill>
                  <a:srgbClr val="072E9F"/>
                </a:solidFill>
              </a:rPr>
              <a:t>SETUP FIREBASE PROJECT</a:t>
            </a:r>
            <a:endParaRPr lang="en-US" sz="6000" b="1">
              <a:solidFill>
                <a:srgbClr val="072E9F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50F212A-863D-4C6C-A571-AD86122B7B6B}"/>
              </a:ext>
            </a:extLst>
          </p:cNvPr>
          <p:cNvSpPr/>
          <p:nvPr/>
        </p:nvSpPr>
        <p:spPr>
          <a:xfrm>
            <a:off x="533400" y="3162300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D75443-89CF-4EBB-AD0A-03BF041620AA}"/>
              </a:ext>
            </a:extLst>
          </p:cNvPr>
          <p:cNvSpPr txBox="1"/>
          <p:nvPr/>
        </p:nvSpPr>
        <p:spPr>
          <a:xfrm>
            <a:off x="914400" y="3009900"/>
            <a:ext cx="5638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>
                <a:latin typeface="Arial" panose="020B0604020202020204" pitchFamily="34" charset="0"/>
                <a:cs typeface="Arial" panose="020B0604020202020204" pitchFamily="34" charset="0"/>
              </a:rPr>
              <a:t>BƯỚC 1: Tạo Project trên Firebase Console</a:t>
            </a:r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A996A80-CDF5-4B73-BE8D-70404A45B0C4}"/>
              </a:ext>
            </a:extLst>
          </p:cNvPr>
          <p:cNvSpPr/>
          <p:nvPr/>
        </p:nvSpPr>
        <p:spPr>
          <a:xfrm>
            <a:off x="536713" y="4731960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9A13A2-4AF7-45A3-9CD2-AF61659B818E}"/>
              </a:ext>
            </a:extLst>
          </p:cNvPr>
          <p:cNvSpPr txBox="1"/>
          <p:nvPr/>
        </p:nvSpPr>
        <p:spPr>
          <a:xfrm>
            <a:off x="917712" y="4579560"/>
            <a:ext cx="616888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>
                <a:latin typeface="Arial" panose="020B0604020202020204" pitchFamily="34" charset="0"/>
                <a:cs typeface="Arial" panose="020B0604020202020204" pitchFamily="34" charset="0"/>
              </a:rPr>
              <a:t>BƯỚC 2: : Thêm ứng dụng Flutter vào Firebase </a:t>
            </a:r>
            <a:r>
              <a:rPr lang="en-US" sz="3200">
                <a:latin typeface="Arial" panose="020B0604020202020204" pitchFamily="34" charset="0"/>
                <a:cs typeface="Arial" panose="020B0604020202020204" pitchFamily="34" charset="0"/>
              </a:rPr>
              <a:t>(Android/iOS/Web/Desktop)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77CD121-7CF2-4B08-A2A9-A98B536CABB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252250" y="2019300"/>
            <a:ext cx="9677402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0884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11EE2A-7FE9-45A6-8069-167C05E319AF}"/>
              </a:ext>
            </a:extLst>
          </p:cNvPr>
          <p:cNvSpPr txBox="1"/>
          <p:nvPr/>
        </p:nvSpPr>
        <p:spPr>
          <a:xfrm>
            <a:off x="627822" y="560515"/>
            <a:ext cx="14706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6000" b="1">
                <a:solidFill>
                  <a:srgbClr val="072E9F"/>
                </a:solidFill>
              </a:rPr>
              <a:t>SETUP FIREBASE PROJECT</a:t>
            </a:r>
            <a:endParaRPr lang="en-US" sz="6000" b="1">
              <a:solidFill>
                <a:srgbClr val="072E9F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36A8DE1-16E9-4721-8436-D898EF9EC558}"/>
              </a:ext>
            </a:extLst>
          </p:cNvPr>
          <p:cNvSpPr/>
          <p:nvPr/>
        </p:nvSpPr>
        <p:spPr>
          <a:xfrm>
            <a:off x="592483" y="3031780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BC20A4-42E4-4E28-9D45-6020947A5BAC}"/>
              </a:ext>
            </a:extLst>
          </p:cNvPr>
          <p:cNvSpPr txBox="1"/>
          <p:nvPr/>
        </p:nvSpPr>
        <p:spPr>
          <a:xfrm>
            <a:off x="973483" y="2879380"/>
            <a:ext cx="81407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latin typeface="Arial" panose="020B0604020202020204" pitchFamily="34" charset="0"/>
                <a:cs typeface="Arial" panose="020B0604020202020204" pitchFamily="34" charset="0"/>
              </a:rPr>
              <a:t>flutter pub add firebase_core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3B8C2F9-5DA2-44F7-B30A-C9C816B46E71}"/>
              </a:ext>
            </a:extLst>
          </p:cNvPr>
          <p:cNvSpPr/>
          <p:nvPr/>
        </p:nvSpPr>
        <p:spPr>
          <a:xfrm>
            <a:off x="592483" y="3769462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365182-A8BB-463E-BED8-54BD43229323}"/>
              </a:ext>
            </a:extLst>
          </p:cNvPr>
          <p:cNvSpPr txBox="1"/>
          <p:nvPr/>
        </p:nvSpPr>
        <p:spPr>
          <a:xfrm>
            <a:off x="973483" y="3539172"/>
            <a:ext cx="7912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latin typeface="Arial" panose="020B0604020202020204" pitchFamily="34" charset="0"/>
                <a:cs typeface="Arial" panose="020B0604020202020204" pitchFamily="34" charset="0"/>
              </a:rPr>
              <a:t>flutter pub add firebase_auth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2F5D3FF-A856-487B-BE80-C584AEFE7409}"/>
              </a:ext>
            </a:extLst>
          </p:cNvPr>
          <p:cNvSpPr/>
          <p:nvPr/>
        </p:nvSpPr>
        <p:spPr>
          <a:xfrm>
            <a:off x="592483" y="4507144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07519B-D8C3-47E6-813E-B6412FCC1ECC}"/>
              </a:ext>
            </a:extLst>
          </p:cNvPr>
          <p:cNvSpPr txBox="1"/>
          <p:nvPr/>
        </p:nvSpPr>
        <p:spPr>
          <a:xfrm>
            <a:off x="973483" y="4356638"/>
            <a:ext cx="81407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200">
                <a:latin typeface="Arial" panose="020B0604020202020204" pitchFamily="34" charset="0"/>
                <a:cs typeface="Arial" panose="020B0604020202020204" pitchFamily="34" charset="0"/>
              </a:rPr>
              <a:t>flutter pub add firebase_database</a:t>
            </a:r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77EE21-B33C-4F5D-9133-5DA51224DFA7}"/>
              </a:ext>
            </a:extLst>
          </p:cNvPr>
          <p:cNvSpPr txBox="1"/>
          <p:nvPr/>
        </p:nvSpPr>
        <p:spPr>
          <a:xfrm>
            <a:off x="231914" y="1896409"/>
            <a:ext cx="6781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>
                <a:latin typeface="Arial" panose="020B0604020202020204" pitchFamily="34" charset="0"/>
                <a:cs typeface="Arial" panose="020B0604020202020204" pitchFamily="34" charset="0"/>
              </a:rPr>
              <a:t>Bước 3: Kết nối Firebase với Flutter</a:t>
            </a:r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04208D-053F-4AF3-A7EB-B90F74BDB890}"/>
              </a:ext>
            </a:extLst>
          </p:cNvPr>
          <p:cNvSpPr txBox="1"/>
          <p:nvPr/>
        </p:nvSpPr>
        <p:spPr>
          <a:xfrm>
            <a:off x="231914" y="6147686"/>
            <a:ext cx="723568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>
                <a:latin typeface="Arial" panose="020B0604020202020204" pitchFamily="34" charset="0"/>
                <a:cs typeface="Arial" panose="020B0604020202020204" pitchFamily="34" charset="0"/>
              </a:rPr>
              <a:t>Cấu hình flutter bằng lệnh: </a:t>
            </a:r>
          </a:p>
          <a:p>
            <a:r>
              <a:rPr lang="vi-VN" sz="3200">
                <a:latin typeface="Arial" panose="020B0604020202020204" pitchFamily="34" charset="0"/>
                <a:cs typeface="Arial" panose="020B0604020202020204" pitchFamily="34" charset="0"/>
              </a:rPr>
              <a:t>flutterfire configure</a:t>
            </a:r>
          </a:p>
          <a:p>
            <a:r>
              <a:rPr lang="vi-VN" sz="3200">
                <a:latin typeface="Arial" panose="020B0604020202020204" pitchFamily="34" charset="0"/>
                <a:cs typeface="Arial" panose="020B0604020202020204" pitchFamily="34" charset="0"/>
              </a:rPr>
              <a:t>để tạo file </a:t>
            </a:r>
            <a:r>
              <a:rPr lang="en-US" sz="3200">
                <a:latin typeface="Arial" panose="020B0604020202020204" pitchFamily="34" charset="0"/>
                <a:cs typeface="Arial" panose="020B0604020202020204" pitchFamily="34" charset="0"/>
              </a:rPr>
              <a:t>firebase_options.dart</a:t>
            </a:r>
            <a:r>
              <a:rPr lang="vi-VN" sz="3200">
                <a:latin typeface="Arial" panose="020B0604020202020204" pitchFamily="34" charset="0"/>
                <a:cs typeface="Arial" panose="020B0604020202020204" pitchFamily="34" charset="0"/>
              </a:rPr>
              <a:t> dùng để khởi tạo Firebase.</a:t>
            </a:r>
          </a:p>
          <a:p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1B446AE-866D-44A6-8FDA-950DF69F7754}"/>
              </a:ext>
            </a:extLst>
          </p:cNvPr>
          <p:cNvSpPr/>
          <p:nvPr/>
        </p:nvSpPr>
        <p:spPr>
          <a:xfrm>
            <a:off x="592483" y="5402668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58D4FA-83B5-426E-86B3-E8AE43D94D4B}"/>
              </a:ext>
            </a:extLst>
          </p:cNvPr>
          <p:cNvSpPr txBox="1"/>
          <p:nvPr/>
        </p:nvSpPr>
        <p:spPr>
          <a:xfrm>
            <a:off x="973483" y="5252162"/>
            <a:ext cx="81407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200">
                <a:latin typeface="Arial" panose="020B0604020202020204" pitchFamily="34" charset="0"/>
                <a:cs typeface="Arial" panose="020B0604020202020204" pitchFamily="34" charset="0"/>
              </a:rPr>
              <a:t>flutter pub add flutterfire_cli</a:t>
            </a:r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29B1DF8-395C-4989-97D3-9874E70AFAB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619999" y="2069754"/>
            <a:ext cx="10436087" cy="6502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846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9CE78E-2D7A-4286-BA1B-E78EA2968C70}"/>
              </a:ext>
            </a:extLst>
          </p:cNvPr>
          <p:cNvSpPr txBox="1"/>
          <p:nvPr/>
        </p:nvSpPr>
        <p:spPr>
          <a:xfrm>
            <a:off x="624840" y="419100"/>
            <a:ext cx="16078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6000" b="1">
                <a:solidFill>
                  <a:srgbClr val="072E9F"/>
                </a:solidFill>
              </a:rPr>
              <a:t>SETUP FIREBASE PROJECT</a:t>
            </a:r>
            <a:endParaRPr lang="en-US" sz="6000" b="1">
              <a:solidFill>
                <a:srgbClr val="072E9F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6AC57DA-D3A2-4106-BA43-7773303F57C5}"/>
              </a:ext>
            </a:extLst>
          </p:cNvPr>
          <p:cNvSpPr/>
          <p:nvPr/>
        </p:nvSpPr>
        <p:spPr>
          <a:xfrm>
            <a:off x="917716" y="3982136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F3588F-B5B1-426D-848E-4E9EAA665C4A}"/>
              </a:ext>
            </a:extLst>
          </p:cNvPr>
          <p:cNvSpPr txBox="1"/>
          <p:nvPr/>
        </p:nvSpPr>
        <p:spPr>
          <a:xfrm>
            <a:off x="781881" y="2820203"/>
            <a:ext cx="8077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>
                <a:latin typeface="Arial" panose="020B0604020202020204" pitchFamily="34" charset="0"/>
                <a:cs typeface="Arial" panose="020B0604020202020204" pitchFamily="34" charset="0"/>
              </a:rPr>
              <a:t>Bước 4: Khởi tạo Firebase trong ứng dụng</a:t>
            </a:r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2A8B8C-1FAA-43FA-BAA2-6707F1DEE6FF}"/>
              </a:ext>
            </a:extLst>
          </p:cNvPr>
          <p:cNvSpPr/>
          <p:nvPr/>
        </p:nvSpPr>
        <p:spPr>
          <a:xfrm>
            <a:off x="1408044" y="3829736"/>
            <a:ext cx="729200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3200">
                <a:latin typeface="Arial" panose="020B0604020202020204" pitchFamily="34" charset="0"/>
                <a:cs typeface="Arial" panose="020B0604020202020204" pitchFamily="34" charset="0"/>
              </a:rPr>
              <a:t>Điều này giúp đảm bảo Firebase được khởi động trước khi ứng dụng chạy, để các service khác có thể hoạt động.</a:t>
            </a:r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CBB9027-C436-45CE-81B0-CEB6FCCFEC0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9144000" y="3009900"/>
            <a:ext cx="8706681" cy="3639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3350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72426F-1A49-434A-B5B8-2D383C727A5F}"/>
              </a:ext>
            </a:extLst>
          </p:cNvPr>
          <p:cNvSpPr txBox="1"/>
          <p:nvPr/>
        </p:nvSpPr>
        <p:spPr>
          <a:xfrm>
            <a:off x="685800" y="571500"/>
            <a:ext cx="13106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6000" b="1">
                <a:solidFill>
                  <a:srgbClr val="072E9F"/>
                </a:solidFill>
              </a:rPr>
              <a:t>CRUD OPERATIONS </a:t>
            </a:r>
            <a:endParaRPr lang="en-US" sz="6000" b="1">
              <a:solidFill>
                <a:srgbClr val="072E9F"/>
              </a:solidFill>
            </a:endParaRPr>
          </a:p>
          <a:p>
            <a:endParaRPr lang="en-US" sz="600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35434CB-D3EB-4226-812B-1A52D4E1F4A2}"/>
              </a:ext>
            </a:extLst>
          </p:cNvPr>
          <p:cNvSpPr/>
          <p:nvPr/>
        </p:nvSpPr>
        <p:spPr>
          <a:xfrm>
            <a:off x="736600" y="3086100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98F738-BC04-4E82-8B94-26E90D388BCB}"/>
              </a:ext>
            </a:extLst>
          </p:cNvPr>
          <p:cNvSpPr txBox="1"/>
          <p:nvPr/>
        </p:nvSpPr>
        <p:spPr>
          <a:xfrm>
            <a:off x="1130300" y="2952810"/>
            <a:ext cx="64135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latin typeface="Arial" panose="020B0604020202020204" pitchFamily="34" charset="0"/>
                <a:cs typeface="Arial" panose="020B0604020202020204" pitchFamily="34" charset="0"/>
              </a:rPr>
              <a:t>Create:</a:t>
            </a:r>
            <a:r>
              <a:rPr lang="en-US" sz="3200">
                <a:latin typeface="Arial" panose="020B0604020202020204" pitchFamily="34" charset="0"/>
                <a:cs typeface="Arial" panose="020B0604020202020204" pitchFamily="34" charset="0"/>
              </a:rPr>
              <a:t> Tạo dữ liệu mới (phòng chat, tin nhắn).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49FB521-BE6D-48A8-8CA3-698F68C7F8D3}"/>
              </a:ext>
            </a:extLst>
          </p:cNvPr>
          <p:cNvSpPr/>
          <p:nvPr/>
        </p:nvSpPr>
        <p:spPr>
          <a:xfrm>
            <a:off x="723900" y="4358045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51C402-2B6C-42F0-B2F6-EDD29C04A23E}"/>
              </a:ext>
            </a:extLst>
          </p:cNvPr>
          <p:cNvSpPr txBox="1"/>
          <p:nvPr/>
        </p:nvSpPr>
        <p:spPr>
          <a:xfrm>
            <a:off x="1117600" y="4218176"/>
            <a:ext cx="6934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latin typeface="Arial" panose="020B0604020202020204" pitchFamily="34" charset="0"/>
                <a:cs typeface="Arial" panose="020B0604020202020204" pitchFamily="34" charset="0"/>
              </a:rPr>
              <a:t>Read:</a:t>
            </a:r>
            <a:r>
              <a:rPr lang="en-US" sz="3200">
                <a:latin typeface="Arial" panose="020B0604020202020204" pitchFamily="34" charset="0"/>
                <a:cs typeface="Arial" panose="020B0604020202020204" pitchFamily="34" charset="0"/>
              </a:rPr>
              <a:t> Đọc dữ liệu realtime bằng stream.</a:t>
            </a:r>
            <a:endParaRPr lang="en-US" sz="3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4EF1C2E-3B0B-42FB-B4DE-A75C49766970}"/>
              </a:ext>
            </a:extLst>
          </p:cNvPr>
          <p:cNvSpPr/>
          <p:nvPr/>
        </p:nvSpPr>
        <p:spPr>
          <a:xfrm>
            <a:off x="736600" y="5444242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6E6739-67FA-4237-97D6-E9AEE45D8851}"/>
              </a:ext>
            </a:extLst>
          </p:cNvPr>
          <p:cNvSpPr txBox="1"/>
          <p:nvPr/>
        </p:nvSpPr>
        <p:spPr>
          <a:xfrm>
            <a:off x="1117600" y="5273814"/>
            <a:ext cx="6578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latin typeface="Arial" panose="020B0604020202020204" pitchFamily="34" charset="0"/>
                <a:cs typeface="Arial" panose="020B0604020202020204" pitchFamily="34" charset="0"/>
              </a:rPr>
              <a:t>Update:</a:t>
            </a:r>
            <a:r>
              <a:rPr lang="en-US" sz="3200">
                <a:latin typeface="Arial" panose="020B0604020202020204" pitchFamily="34" charset="0"/>
                <a:cs typeface="Arial" panose="020B0604020202020204" pitchFamily="34" charset="0"/>
              </a:rPr>
              <a:t> Cập nhật nội dung tin nhắn hoặc tên phòng.</a:t>
            </a:r>
            <a:endParaRPr lang="en-US" sz="3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CE6D393-158F-4DC0-B58F-456FB3DD6A3F}"/>
              </a:ext>
            </a:extLst>
          </p:cNvPr>
          <p:cNvSpPr/>
          <p:nvPr/>
        </p:nvSpPr>
        <p:spPr>
          <a:xfrm>
            <a:off x="736600" y="6592035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C82A07-3AD1-4C2E-A4C9-EE2B75BA65F4}"/>
              </a:ext>
            </a:extLst>
          </p:cNvPr>
          <p:cNvSpPr txBox="1"/>
          <p:nvPr/>
        </p:nvSpPr>
        <p:spPr>
          <a:xfrm>
            <a:off x="1117600" y="6439635"/>
            <a:ext cx="6934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latin typeface="Arial" panose="020B0604020202020204" pitchFamily="34" charset="0"/>
                <a:cs typeface="Arial" panose="020B0604020202020204" pitchFamily="34" charset="0"/>
              </a:rPr>
              <a:t>Delete:</a:t>
            </a:r>
            <a:r>
              <a:rPr lang="en-US" sz="3200">
                <a:latin typeface="Arial" panose="020B0604020202020204" pitchFamily="34" charset="0"/>
                <a:cs typeface="Arial" panose="020B0604020202020204" pitchFamily="34" charset="0"/>
              </a:rPr>
              <a:t> Xóa phòng hoặc tin nhắn.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822E07F-A141-423E-AC34-97294BD2EF10}"/>
              </a:ext>
            </a:extLst>
          </p:cNvPr>
          <p:cNvSpPr/>
          <p:nvPr/>
        </p:nvSpPr>
        <p:spPr>
          <a:xfrm>
            <a:off x="723900" y="7449107"/>
            <a:ext cx="6221385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>
                <a:latin typeface="Arial" panose="020B0604020202020204" pitchFamily="34" charset="0"/>
                <a:cs typeface="Arial" panose="020B0604020202020204" pitchFamily="34" charset="0"/>
              </a:rPr>
              <a:t>Dữ liệu đồng bộ giữa các thiết bị </a:t>
            </a:r>
            <a:r>
              <a:rPr lang="en-US" sz="3200" b="1">
                <a:latin typeface="Arial" panose="020B0604020202020204" pitchFamily="34" charset="0"/>
                <a:cs typeface="Arial" panose="020B0604020202020204" pitchFamily="34" charset="0"/>
              </a:rPr>
              <a:t>theo thời gian thực</a:t>
            </a:r>
            <a:r>
              <a:rPr lang="en-US" sz="32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2547281-479A-401F-9A7B-3FDFD50B5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8243" y="2087004"/>
            <a:ext cx="9607633" cy="694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5600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5C49AF-3F60-431F-BA31-586DB6024E72}"/>
              </a:ext>
            </a:extLst>
          </p:cNvPr>
          <p:cNvSpPr txBox="1"/>
          <p:nvPr/>
        </p:nvSpPr>
        <p:spPr>
          <a:xfrm>
            <a:off x="400050" y="414560"/>
            <a:ext cx="174879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5500" b="1">
                <a:solidFill>
                  <a:srgbClr val="072E9F"/>
                </a:solidFill>
              </a:rPr>
              <a:t>CRUD OPERATIONS VỚI REALTIME DATABASE</a:t>
            </a:r>
            <a:endParaRPr lang="en-US" sz="5500" b="1">
              <a:solidFill>
                <a:srgbClr val="072E9F"/>
              </a:solidFill>
            </a:endParaRPr>
          </a:p>
          <a:p>
            <a:endParaRPr lang="en-US" sz="5500"/>
          </a:p>
          <a:p>
            <a:endParaRPr lang="en-US" sz="5500"/>
          </a:p>
          <a:p>
            <a:endParaRPr lang="en-US" sz="550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557C04C-6EEF-420B-8932-D835322EF6D9}"/>
              </a:ext>
            </a:extLst>
          </p:cNvPr>
          <p:cNvSpPr/>
          <p:nvPr/>
        </p:nvSpPr>
        <p:spPr>
          <a:xfrm>
            <a:off x="1066800" y="3896419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2075EA-9728-439A-B3FB-B48F349C17C6}"/>
              </a:ext>
            </a:extLst>
          </p:cNvPr>
          <p:cNvSpPr txBox="1"/>
          <p:nvPr/>
        </p:nvSpPr>
        <p:spPr>
          <a:xfrm>
            <a:off x="1447800" y="3693095"/>
            <a:ext cx="83248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3200">
                <a:latin typeface="Arial" panose="020B0604020202020204" pitchFamily="34" charset="0"/>
                <a:cs typeface="Arial" panose="020B0604020202020204" pitchFamily="34" charset="0"/>
              </a:rPr>
              <a:t>rooms: chứa danh sách các phòng chat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33644BD-7F63-4EA8-8B71-D102B8863312}"/>
              </a:ext>
            </a:extLst>
          </p:cNvPr>
          <p:cNvSpPr/>
          <p:nvPr/>
        </p:nvSpPr>
        <p:spPr>
          <a:xfrm>
            <a:off x="1066800" y="4822248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A462BB-9194-42E8-BBBC-49177492DC2B}"/>
              </a:ext>
            </a:extLst>
          </p:cNvPr>
          <p:cNvSpPr txBox="1"/>
          <p:nvPr/>
        </p:nvSpPr>
        <p:spPr>
          <a:xfrm>
            <a:off x="1447800" y="4722047"/>
            <a:ext cx="8534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3200">
                <a:latin typeface="Arial" panose="020B0604020202020204" pitchFamily="34" charset="0"/>
                <a:cs typeface="Arial" panose="020B0604020202020204" pitchFamily="34" charset="0"/>
              </a:rPr>
              <a:t>messages: chứa các tin nhắn, được nhóm theo roomId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0BD555-11DF-4F44-A9B1-1D5C4EB99387}"/>
              </a:ext>
            </a:extLst>
          </p:cNvPr>
          <p:cNvSpPr txBox="1"/>
          <p:nvPr/>
        </p:nvSpPr>
        <p:spPr>
          <a:xfrm>
            <a:off x="762000" y="2171700"/>
            <a:ext cx="9448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>
                <a:latin typeface="Arial" panose="020B0604020202020204" pitchFamily="34" charset="0"/>
                <a:cs typeface="Arial" panose="020B0604020202020204" pitchFamily="34" charset="0"/>
              </a:rPr>
              <a:t>Với Firebase, mọi dữ liệu được lưu ở dạng JSON và tổ chức theo cây (tree structure) </a:t>
            </a:r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61A72A4-E301-4B3E-8261-06423A636B7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1125200" y="1458615"/>
            <a:ext cx="5410198" cy="8413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3771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64E56D-B0DE-4E6A-BEF5-36FA8DCAA665}"/>
              </a:ext>
            </a:extLst>
          </p:cNvPr>
          <p:cNvSpPr txBox="1"/>
          <p:nvPr/>
        </p:nvSpPr>
        <p:spPr>
          <a:xfrm>
            <a:off x="533400" y="419009"/>
            <a:ext cx="172212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5500" b="1">
                <a:solidFill>
                  <a:srgbClr val="072E9F"/>
                </a:solidFill>
              </a:rPr>
              <a:t>CRUD OPERATIONS VỚI REALTIME DATABASE</a:t>
            </a:r>
            <a:endParaRPr lang="en-US" sz="5500" b="1">
              <a:solidFill>
                <a:srgbClr val="072E9F"/>
              </a:solidFill>
            </a:endParaRPr>
          </a:p>
          <a:p>
            <a:endParaRPr lang="en-US" sz="5500"/>
          </a:p>
          <a:p>
            <a:endParaRPr lang="en-US" sz="5500"/>
          </a:p>
          <a:p>
            <a:endParaRPr lang="en-US" sz="55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3F4EBA-BA61-4D2E-A7EB-3B5D124C2A06}"/>
              </a:ext>
            </a:extLst>
          </p:cNvPr>
          <p:cNvSpPr txBox="1"/>
          <p:nvPr/>
        </p:nvSpPr>
        <p:spPr>
          <a:xfrm>
            <a:off x="381000" y="1712341"/>
            <a:ext cx="14478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000"/>
              <a:t>Thực hiện CRUD thông qua lớp DatabaseService.</a:t>
            </a:r>
            <a:endParaRPr lang="en-US" sz="3000"/>
          </a:p>
          <a:p>
            <a:endParaRPr lang="en-US" sz="3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C032CC-EB72-48C8-923C-CD353A66814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69843" y="2791718"/>
            <a:ext cx="8610600" cy="48780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10BF451-6E52-472E-9456-BE983A73E5A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9458738" y="1361752"/>
            <a:ext cx="8448262" cy="853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3969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C5583C-9B88-4144-9A42-DAF76489DDC0}"/>
              </a:ext>
            </a:extLst>
          </p:cNvPr>
          <p:cNvSpPr txBox="1"/>
          <p:nvPr/>
        </p:nvSpPr>
        <p:spPr>
          <a:xfrm>
            <a:off x="762000" y="495300"/>
            <a:ext cx="156972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6000" b="1">
                <a:solidFill>
                  <a:srgbClr val="072E9F"/>
                </a:solidFill>
              </a:rPr>
              <a:t>OFFLINE CAPABILITIES VÀ SYNC </a:t>
            </a:r>
            <a:endParaRPr lang="en-US" sz="6000" b="1">
              <a:solidFill>
                <a:srgbClr val="072E9F"/>
              </a:solidFill>
            </a:endParaRPr>
          </a:p>
          <a:p>
            <a:endParaRPr lang="en-US" sz="6000"/>
          </a:p>
          <a:p>
            <a:endParaRPr lang="en-US" sz="600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0E29009-5038-4ECA-B899-49EC25734D19}"/>
              </a:ext>
            </a:extLst>
          </p:cNvPr>
          <p:cNvSpPr/>
          <p:nvPr/>
        </p:nvSpPr>
        <p:spPr>
          <a:xfrm>
            <a:off x="1752600" y="3217634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C92973-1F8B-48B4-94C9-5EC24ABEBF88}"/>
              </a:ext>
            </a:extLst>
          </p:cNvPr>
          <p:cNvSpPr txBox="1"/>
          <p:nvPr/>
        </p:nvSpPr>
        <p:spPr>
          <a:xfrm>
            <a:off x="2133600" y="3065234"/>
            <a:ext cx="1402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>
                <a:latin typeface="Arial" panose="020B0604020202020204" pitchFamily="34" charset="0"/>
                <a:cs typeface="Arial" panose="020B0604020202020204" pitchFamily="34" charset="0"/>
              </a:rPr>
              <a:t>Firebase hỗ trợ lưu cache khi mất kết nối.</a:t>
            </a:r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3A54F57-CD7D-48FE-8F02-5B2EACE8FF21}"/>
              </a:ext>
            </a:extLst>
          </p:cNvPr>
          <p:cNvSpPr/>
          <p:nvPr/>
        </p:nvSpPr>
        <p:spPr>
          <a:xfrm>
            <a:off x="1739900" y="4489579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C8D443-A5E5-4036-8695-188BA08D2FCA}"/>
              </a:ext>
            </a:extLst>
          </p:cNvPr>
          <p:cNvSpPr txBox="1"/>
          <p:nvPr/>
        </p:nvSpPr>
        <p:spPr>
          <a:xfrm>
            <a:off x="2120900" y="4337179"/>
            <a:ext cx="1402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>
                <a:latin typeface="Arial" panose="020B0604020202020204" pitchFamily="34" charset="0"/>
                <a:cs typeface="Arial" panose="020B0604020202020204" pitchFamily="34" charset="0"/>
              </a:rPr>
              <a:t>Dữ liệu ghi khi offline được lưu tạm, sau đó </a:t>
            </a:r>
            <a:r>
              <a:rPr lang="vi-VN" sz="3200" b="1">
                <a:latin typeface="Arial" panose="020B0604020202020204" pitchFamily="34" charset="0"/>
                <a:cs typeface="Arial" panose="020B0604020202020204" pitchFamily="34" charset="0"/>
              </a:rPr>
              <a:t>tự động đồng bộ</a:t>
            </a:r>
            <a:r>
              <a:rPr lang="vi-VN" sz="32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24E4F86-6B1D-4A08-BE2D-DEB74C095FDA}"/>
              </a:ext>
            </a:extLst>
          </p:cNvPr>
          <p:cNvSpPr/>
          <p:nvPr/>
        </p:nvSpPr>
        <p:spPr>
          <a:xfrm>
            <a:off x="1752600" y="5913924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66E948-AA8F-4DDD-8832-4A4CA582F88C}"/>
              </a:ext>
            </a:extLst>
          </p:cNvPr>
          <p:cNvSpPr txBox="1"/>
          <p:nvPr/>
        </p:nvSpPr>
        <p:spPr>
          <a:xfrm>
            <a:off x="2133600" y="5761524"/>
            <a:ext cx="1402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latin typeface="Arial" panose="020B0604020202020204" pitchFamily="34" charset="0"/>
                <a:cs typeface="Arial" panose="020B0604020202020204" pitchFamily="34" charset="0"/>
              </a:rPr>
              <a:t>Chỉ hỗ trợ đầy đủ trên Android/iOS.</a:t>
            </a:r>
          </a:p>
        </p:txBody>
      </p:sp>
    </p:spTree>
    <p:extLst>
      <p:ext uri="{BB962C8B-B14F-4D97-AF65-F5344CB8AC3E}">
        <p14:creationId xmlns:p14="http://schemas.microsoft.com/office/powerpoint/2010/main" val="17284059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1D6E553-761A-43D6-89E5-C1F8B1445685}"/>
              </a:ext>
            </a:extLst>
          </p:cNvPr>
          <p:cNvSpPr/>
          <p:nvPr/>
        </p:nvSpPr>
        <p:spPr>
          <a:xfrm>
            <a:off x="593035" y="591355"/>
            <a:ext cx="163830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5400" b="1">
                <a:solidFill>
                  <a:srgbClr val="072E9F"/>
                </a:solidFill>
              </a:rPr>
              <a:t>OFFLINE CAPABILITIES VÀ SYNC </a:t>
            </a:r>
            <a:endParaRPr lang="en-US" sz="5400" b="1">
              <a:solidFill>
                <a:srgbClr val="072E9F"/>
              </a:solidFill>
            </a:endParaRPr>
          </a:p>
          <a:p>
            <a:endParaRPr lang="en-US" sz="5400"/>
          </a:p>
          <a:p>
            <a:endParaRPr lang="en-US" sz="540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2645E05-FEFD-4BCD-915F-042A27F82D7D}"/>
              </a:ext>
            </a:extLst>
          </p:cNvPr>
          <p:cNvSpPr/>
          <p:nvPr/>
        </p:nvSpPr>
        <p:spPr>
          <a:xfrm>
            <a:off x="635000" y="3176678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1AFB46-FE03-4A06-9011-3D01640340A1}"/>
              </a:ext>
            </a:extLst>
          </p:cNvPr>
          <p:cNvSpPr txBox="1"/>
          <p:nvPr/>
        </p:nvSpPr>
        <p:spPr>
          <a:xfrm>
            <a:off x="1030909" y="3009900"/>
            <a:ext cx="5918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/>
              <a:t>Trong file main.dart ta kích hoạt chế độ lưu trữ offline ngay khi khởi tạo Firebase</a:t>
            </a:r>
            <a:endParaRPr lang="en-US" sz="32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EE7DF86-3F50-4FA7-A874-0842E5B706B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370417" y="2682479"/>
            <a:ext cx="10307983" cy="4708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6505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69E458C-43E4-40CC-9A89-E340D0A282D2}"/>
              </a:ext>
            </a:extLst>
          </p:cNvPr>
          <p:cNvSpPr/>
          <p:nvPr/>
        </p:nvSpPr>
        <p:spPr>
          <a:xfrm>
            <a:off x="1143000" y="571500"/>
            <a:ext cx="11049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6000" b="1">
                <a:solidFill>
                  <a:srgbClr val="072E9F"/>
                </a:solidFill>
              </a:rPr>
              <a:t>MINH HỌA HOẠT ĐỘNG</a:t>
            </a:r>
            <a:endParaRPr lang="en-US" sz="6000" b="1">
              <a:solidFill>
                <a:srgbClr val="072E9F"/>
              </a:solidFill>
            </a:endParaRPr>
          </a:p>
          <a:p>
            <a:endParaRPr lang="en-US" sz="6000"/>
          </a:p>
          <a:p>
            <a:endParaRPr lang="en-US" sz="600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120DE7A-EB60-4EEA-ADA1-A469F8810E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7873580"/>
              </p:ext>
            </p:extLst>
          </p:nvPr>
        </p:nvGraphicFramePr>
        <p:xfrm>
          <a:off x="1866899" y="2628900"/>
          <a:ext cx="14554201" cy="4771672"/>
        </p:xfrm>
        <a:graphic>
          <a:graphicData uri="http://schemas.openxmlformats.org/drawingml/2006/table">
            <a:tbl>
              <a:tblPr firstRow="1" firstCol="1" bandRow="1"/>
              <a:tblGrid>
                <a:gridCol w="4112427">
                  <a:extLst>
                    <a:ext uri="{9D8B030D-6E8A-4147-A177-3AD203B41FA5}">
                      <a16:colId xmlns:a16="http://schemas.microsoft.com/office/drawing/2014/main" val="1890376675"/>
                    </a:ext>
                  </a:extLst>
                </a:gridCol>
                <a:gridCol w="5589855">
                  <a:extLst>
                    <a:ext uri="{9D8B030D-6E8A-4147-A177-3AD203B41FA5}">
                      <a16:colId xmlns:a16="http://schemas.microsoft.com/office/drawing/2014/main" val="650908035"/>
                    </a:ext>
                  </a:extLst>
                </a:gridCol>
                <a:gridCol w="4851919">
                  <a:extLst>
                    <a:ext uri="{9D8B030D-6E8A-4147-A177-3AD203B41FA5}">
                      <a16:colId xmlns:a16="http://schemas.microsoft.com/office/drawing/2014/main" val="3593538083"/>
                    </a:ext>
                  </a:extLst>
                </a:gridCol>
              </a:tblGrid>
              <a:tr h="6555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Trạng thái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Hành vi ứng dụng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Kết quả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2165387"/>
                  </a:ext>
                </a:extLst>
              </a:tr>
              <a:tr h="137204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Có mạng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Người dùng gửi tin nhắn → Ghi trực tiếp lên server.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Dữ liệu hiển thị ngay trên tất cả thiết bị.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8055939"/>
                  </a:ext>
                </a:extLst>
              </a:tr>
              <a:tr h="137204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Mất mạng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Người dùng gửi tin nhắn → Lưu tạm vào bộ nhớ cache.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Giao diện vẫn hiển thị tin nhắn mới, không mất.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6921391"/>
                  </a:ext>
                </a:extLst>
              </a:tr>
              <a:tr h="137204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Khi mạng phục hồi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Firebase tự động đồng bộ dữ liệu cục bộ lên server.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Tin nhắn tạm được cập nhật thật trên database.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7112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15043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C6275D-86FB-4160-AA5B-7C0547C77E36}"/>
              </a:ext>
            </a:extLst>
          </p:cNvPr>
          <p:cNvSpPr txBox="1"/>
          <p:nvPr/>
        </p:nvSpPr>
        <p:spPr>
          <a:xfrm>
            <a:off x="706120" y="405729"/>
            <a:ext cx="1644396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6000" b="1">
                <a:solidFill>
                  <a:srgbClr val="072E9F"/>
                </a:solidFill>
              </a:rPr>
              <a:t>SERCURITY RULE VÀ DATA VALIDATION</a:t>
            </a:r>
            <a:endParaRPr lang="en-US" sz="6000" b="1">
              <a:solidFill>
                <a:srgbClr val="072E9F"/>
              </a:solidFill>
            </a:endParaRPr>
          </a:p>
          <a:p>
            <a:endParaRPr lang="en-US" sz="6000"/>
          </a:p>
          <a:p>
            <a:endParaRPr lang="en-US" sz="6000"/>
          </a:p>
          <a:p>
            <a:endParaRPr lang="en-US" sz="600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956F204-E42E-4EBE-ADFB-177F25EFD755}"/>
              </a:ext>
            </a:extLst>
          </p:cNvPr>
          <p:cNvSpPr/>
          <p:nvPr/>
        </p:nvSpPr>
        <p:spPr>
          <a:xfrm>
            <a:off x="591820" y="2987282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5EDB8F-C3AE-4706-829E-EF934F71C795}"/>
              </a:ext>
            </a:extLst>
          </p:cNvPr>
          <p:cNvSpPr txBox="1"/>
          <p:nvPr/>
        </p:nvSpPr>
        <p:spPr>
          <a:xfrm>
            <a:off x="1019201" y="2809194"/>
            <a:ext cx="153803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>
                <a:latin typeface="Arial" panose="020B0604020202020204" pitchFamily="34" charset="0"/>
                <a:cs typeface="Arial" panose="020B0604020202020204" pitchFamily="34" charset="0"/>
              </a:rPr>
              <a:t>Bảo mật dữ liệu rất quan trọng: bạn không nên để mọi người có thể đọc/ghi vô hạn. </a:t>
            </a:r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82B4D11-D5CA-42B6-95AB-EF2282E5E17A}"/>
              </a:ext>
            </a:extLst>
          </p:cNvPr>
          <p:cNvSpPr/>
          <p:nvPr/>
        </p:nvSpPr>
        <p:spPr>
          <a:xfrm>
            <a:off x="621637" y="4158134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154E0B-6591-431B-A822-551469DE3A62}"/>
              </a:ext>
            </a:extLst>
          </p:cNvPr>
          <p:cNvSpPr txBox="1"/>
          <p:nvPr/>
        </p:nvSpPr>
        <p:spPr>
          <a:xfrm>
            <a:off x="1032453" y="4000500"/>
            <a:ext cx="1553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>
                <a:latin typeface="Arial" panose="020B0604020202020204" pitchFamily="34" charset="0"/>
                <a:cs typeface="Arial" panose="020B0604020202020204" pitchFamily="34" charset="0"/>
              </a:rPr>
              <a:t>Realtime Database sử dụng ngôn ngữ rules để kiểm soát truy cập và xác thực dữ liệu mới được ghi vào. Ví dụ: chỉ người dùng đã đăng nhập mới được ghi; khi ghi tin nhắn phải có các trường sender, text, timestamp.</a:t>
            </a:r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3303F26-EB6F-4CAD-B7AD-148CA8266F7D}"/>
              </a:ext>
            </a:extLst>
          </p:cNvPr>
          <p:cNvSpPr/>
          <p:nvPr/>
        </p:nvSpPr>
        <p:spPr>
          <a:xfrm>
            <a:off x="621637" y="6165986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998C0E-F7A3-42EB-A644-677D58AA64CC}"/>
              </a:ext>
            </a:extLst>
          </p:cNvPr>
          <p:cNvSpPr txBox="1"/>
          <p:nvPr/>
        </p:nvSpPr>
        <p:spPr>
          <a:xfrm>
            <a:off x="1032453" y="6056237"/>
            <a:ext cx="1538036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>
                <a:latin typeface="Arial" panose="020B0604020202020204" pitchFamily="34" charset="0"/>
                <a:cs typeface="Arial" panose="020B0604020202020204" pitchFamily="34" charset="0"/>
              </a:rPr>
              <a:t>Việc xác thực cấu trúc dữ liệu giúp mọi người dùng phải tuân theo định dạng chuẩn và tránh lưu dữ liệu lạ.</a:t>
            </a:r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56693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33172DD-1070-4FFB-B60D-8CE92F3CA784}"/>
              </a:ext>
            </a:extLst>
          </p:cNvPr>
          <p:cNvSpPr/>
          <p:nvPr/>
        </p:nvSpPr>
        <p:spPr>
          <a:xfrm>
            <a:off x="496957" y="461402"/>
            <a:ext cx="1775460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5500" b="1">
                <a:solidFill>
                  <a:srgbClr val="072E9F"/>
                </a:solidFill>
              </a:rPr>
              <a:t>SERCURITY RULE VÀ DATA VALIDATION</a:t>
            </a:r>
            <a:endParaRPr lang="en-US" sz="5500" b="1">
              <a:solidFill>
                <a:srgbClr val="072E9F"/>
              </a:solidFill>
            </a:endParaRPr>
          </a:p>
          <a:p>
            <a:endParaRPr lang="en-US" sz="5500"/>
          </a:p>
          <a:p>
            <a:endParaRPr lang="en-US" sz="5500"/>
          </a:p>
          <a:p>
            <a:endParaRPr lang="en-US" sz="550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B34CD25-0B8F-432A-8E9D-B65A5DC2CD0B}"/>
              </a:ext>
            </a:extLst>
          </p:cNvPr>
          <p:cNvSpPr/>
          <p:nvPr/>
        </p:nvSpPr>
        <p:spPr>
          <a:xfrm>
            <a:off x="1030357" y="2047940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B102C8-29DC-45FD-A45D-CCD9D0B6FC18}"/>
              </a:ext>
            </a:extLst>
          </p:cNvPr>
          <p:cNvSpPr txBox="1"/>
          <p:nvPr/>
        </p:nvSpPr>
        <p:spPr>
          <a:xfrm>
            <a:off x="1449457" y="1866900"/>
            <a:ext cx="15849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/>
              <a:t>Firebase Realtime Database Security Rules được cấu hình trực tiếp trong Firebase Console → Realtime Database → Rules.</a:t>
            </a:r>
            <a:endParaRPr lang="en-US" sz="32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AD1D70-E6A8-4172-B38A-D594DBB3554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440057" y="3213652"/>
            <a:ext cx="13868400" cy="6587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2342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355661-A233-487C-91EE-EE339A83E28B}"/>
              </a:ext>
            </a:extLst>
          </p:cNvPr>
          <p:cNvSpPr txBox="1"/>
          <p:nvPr/>
        </p:nvSpPr>
        <p:spPr>
          <a:xfrm>
            <a:off x="914400" y="745968"/>
            <a:ext cx="1394460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6000" b="1">
                <a:solidFill>
                  <a:srgbClr val="072E9F"/>
                </a:solidFill>
              </a:rPr>
              <a:t>CÁCH THỨC HOẠT ĐỘNG  </a:t>
            </a:r>
            <a:endParaRPr lang="en-US" sz="6000" b="1"/>
          </a:p>
          <a:p>
            <a:endParaRPr lang="en-US" sz="6000" b="1"/>
          </a:p>
          <a:p>
            <a:endParaRPr lang="en-US" sz="6000" b="1"/>
          </a:p>
          <a:p>
            <a:endParaRPr lang="en-US" sz="6000"/>
          </a:p>
          <a:p>
            <a:endParaRPr lang="en-US" sz="600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85A107D-A5F0-4F5E-A7CC-B4F747B1539B}"/>
              </a:ext>
            </a:extLst>
          </p:cNvPr>
          <p:cNvSpPr/>
          <p:nvPr/>
        </p:nvSpPr>
        <p:spPr>
          <a:xfrm>
            <a:off x="1054100" y="2652836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9673BC-3116-4C68-B50D-73E8C7F4CC84}"/>
              </a:ext>
            </a:extLst>
          </p:cNvPr>
          <p:cNvSpPr txBox="1"/>
          <p:nvPr/>
        </p:nvSpPr>
        <p:spPr>
          <a:xfrm>
            <a:off x="1447800" y="2476500"/>
            <a:ext cx="15392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latin typeface="Arial" panose="020B0604020202020204" pitchFamily="34" charset="0"/>
                <a:cs typeface="Arial" panose="020B0604020202020204" pitchFamily="34" charset="0"/>
              </a:rPr>
              <a:t>Security Rules</a:t>
            </a:r>
            <a:endParaRPr lang="vi-VN" sz="3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Tx/>
              <a:buChar char="-"/>
            </a:pPr>
            <a:r>
              <a:rPr lang="vi-VN" sz="3200">
                <a:latin typeface="Arial" panose="020B0604020202020204" pitchFamily="34" charset="0"/>
                <a:cs typeface="Arial" panose="020B0604020202020204" pitchFamily="34" charset="0"/>
              </a:rPr>
              <a:t>Chỉ người dùng đã đăng nhập (authenticated users) mới được đọc/ghi dữ liệu.</a:t>
            </a:r>
          </a:p>
          <a:p>
            <a:pPr marL="457200" indent="-457200">
              <a:buFontTx/>
              <a:buChar char="-"/>
            </a:pPr>
            <a:r>
              <a:rPr lang="vi-VN" sz="3200">
                <a:latin typeface="Arial" panose="020B0604020202020204" pitchFamily="34" charset="0"/>
                <a:cs typeface="Arial" panose="020B0604020202020204" pitchFamily="34" charset="0"/>
              </a:rPr>
              <a:t>Ngăn truy cập trái phép và bảo vệ dữ liệu người dùng.</a:t>
            </a:r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A6C512E-1A63-4AB2-96F1-0A4A9FEB7BAE}"/>
              </a:ext>
            </a:extLst>
          </p:cNvPr>
          <p:cNvSpPr/>
          <p:nvPr/>
        </p:nvSpPr>
        <p:spPr>
          <a:xfrm>
            <a:off x="1054100" y="4696937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31C8C8-3701-4257-8AC0-88875F47175F}"/>
              </a:ext>
            </a:extLst>
          </p:cNvPr>
          <p:cNvSpPr txBox="1"/>
          <p:nvPr/>
        </p:nvSpPr>
        <p:spPr>
          <a:xfrm>
            <a:off x="1447800" y="4557068"/>
            <a:ext cx="15240000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latin typeface="Arial" panose="020B0604020202020204" pitchFamily="34" charset="0"/>
                <a:cs typeface="Arial" panose="020B0604020202020204" pitchFamily="34" charset="0"/>
              </a:rPr>
              <a:t>Data Validation</a:t>
            </a:r>
            <a:endParaRPr lang="vi-VN" sz="3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Tx/>
              <a:buChar char="-"/>
            </a:pPr>
            <a:r>
              <a:rPr lang="en-US" sz="3200">
                <a:latin typeface="Arial" panose="020B0604020202020204" pitchFamily="34" charset="0"/>
                <a:cs typeface="Arial" panose="020B0604020202020204" pitchFamily="34" charset="0"/>
              </a:rPr>
              <a:t>Rooms:</a:t>
            </a:r>
            <a:endParaRPr lang="vi-VN" sz="3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vi-VN" sz="3200">
                <a:latin typeface="Arial" panose="020B0604020202020204" pitchFamily="34" charset="0"/>
                <a:cs typeface="Arial" panose="020B0604020202020204" pitchFamily="34" charset="0"/>
              </a:rPr>
              <a:t> + Trường name: kiểu string, tối thiểu phải 3 kí tự.</a:t>
            </a:r>
          </a:p>
          <a:p>
            <a:pPr marL="457200" indent="-457200">
              <a:buFontTx/>
              <a:buChar char="-"/>
            </a:pPr>
            <a:r>
              <a:rPr lang="en-US" sz="3200">
                <a:latin typeface="Arial" panose="020B0604020202020204" pitchFamily="34" charset="0"/>
                <a:cs typeface="Arial" panose="020B0604020202020204" pitchFamily="34" charset="0"/>
              </a:rPr>
              <a:t>Messages:</a:t>
            </a:r>
            <a:endParaRPr lang="vi-VN" sz="3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vi-VN" sz="3200">
                <a:latin typeface="Arial" panose="020B0604020202020204" pitchFamily="34" charset="0"/>
                <a:cs typeface="Arial" panose="020B0604020202020204" pitchFamily="34" charset="0"/>
              </a:rPr>
              <a:t> + Phải có đủ 3 trường: sender: String, text: String, timestamp: number.</a:t>
            </a:r>
          </a:p>
          <a:p>
            <a:pPr marL="457200" indent="-457200">
              <a:buFontTx/>
              <a:buChar char="-"/>
            </a:pPr>
            <a:r>
              <a:rPr lang="en-US" sz="3200">
                <a:latin typeface="Arial" panose="020B0604020202020204" pitchFamily="34" charset="0"/>
                <a:cs typeface="Arial" panose="020B0604020202020204" pitchFamily="34" charset="0"/>
              </a:rPr>
              <a:t>Users:</a:t>
            </a:r>
            <a:endParaRPr lang="vi-VN" sz="3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vi-VN" sz="3200">
                <a:latin typeface="Arial" panose="020B0604020202020204" pitchFamily="34" charset="0"/>
                <a:cs typeface="Arial" panose="020B0604020202020204" pitchFamily="34" charset="0"/>
              </a:rPr>
              <a:t> + Mỗi User phải có trường email, kiểu String</a:t>
            </a:r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85831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B85146-D2D4-4547-A404-A647AB6A60AE}"/>
              </a:ext>
            </a:extLst>
          </p:cNvPr>
          <p:cNvSpPr/>
          <p:nvPr/>
        </p:nvSpPr>
        <p:spPr>
          <a:xfrm>
            <a:off x="609600" y="571500"/>
            <a:ext cx="1668780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6000" b="1">
                <a:solidFill>
                  <a:srgbClr val="072E9F"/>
                </a:solidFill>
              </a:rPr>
              <a:t>TÓM TẮT CẤU TRÚC FILE   </a:t>
            </a:r>
            <a:endParaRPr lang="en-US" sz="6000" b="1"/>
          </a:p>
          <a:p>
            <a:endParaRPr lang="en-US" sz="6000" b="1"/>
          </a:p>
          <a:p>
            <a:endParaRPr lang="en-US" sz="6000" b="1"/>
          </a:p>
          <a:p>
            <a:endParaRPr lang="en-US" sz="6000"/>
          </a:p>
          <a:p>
            <a:endParaRPr lang="en-US" sz="600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A9783DE-8FAD-4E75-A73E-80CC5CF95D8B}"/>
              </a:ext>
            </a:extLst>
          </p:cNvPr>
          <p:cNvSpPr/>
          <p:nvPr/>
        </p:nvSpPr>
        <p:spPr>
          <a:xfrm>
            <a:off x="535333" y="2084612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FCE3E6-3BF8-4358-A74E-18D44370B9D5}"/>
              </a:ext>
            </a:extLst>
          </p:cNvPr>
          <p:cNvSpPr txBox="1"/>
          <p:nvPr/>
        </p:nvSpPr>
        <p:spPr>
          <a:xfrm>
            <a:off x="990600" y="1866900"/>
            <a:ext cx="1016441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/>
              <a:t>Models</a:t>
            </a:r>
            <a:endParaRPr lang="vi-VN" sz="3200"/>
          </a:p>
          <a:p>
            <a:pPr marL="457200" indent="-457200">
              <a:buFontTx/>
              <a:buChar char="-"/>
            </a:pPr>
            <a:r>
              <a:rPr lang="en-US" sz="3200"/>
              <a:t>Chứa các lớp </a:t>
            </a:r>
            <a:r>
              <a:rPr lang="en-US" sz="3200" b="1"/>
              <a:t>mô hình dữ liệu</a:t>
            </a:r>
            <a:r>
              <a:rPr lang="en-US" sz="3200"/>
              <a:t>.</a:t>
            </a:r>
            <a:endParaRPr lang="vi-VN" sz="3200"/>
          </a:p>
          <a:p>
            <a:pPr marL="457200" indent="-457200">
              <a:buFontTx/>
              <a:buChar char="-"/>
            </a:pPr>
            <a:r>
              <a:rPr lang="en-US" sz="3200"/>
              <a:t>message.</a:t>
            </a:r>
            <a:r>
              <a:rPr lang="vi-VN" sz="3200"/>
              <a:t>dart: </a:t>
            </a:r>
            <a:r>
              <a:rPr lang="en-US" sz="3200"/>
              <a:t>mô tả cấu trúc tin nhắn → giúp chuyển đổi dữ liệu Firebase ↔ Dart dễ dàng.</a:t>
            </a:r>
            <a:endParaRPr lang="vi-VN" sz="3200"/>
          </a:p>
          <a:p>
            <a:endParaRPr lang="en-US" sz="320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0E79CF3-E235-42B2-BB76-1B73C50C3925}"/>
              </a:ext>
            </a:extLst>
          </p:cNvPr>
          <p:cNvSpPr/>
          <p:nvPr/>
        </p:nvSpPr>
        <p:spPr>
          <a:xfrm>
            <a:off x="534367" y="4396597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BC3B0F-FCCF-4133-9AB0-342BBE9C1F4C}"/>
              </a:ext>
            </a:extLst>
          </p:cNvPr>
          <p:cNvSpPr txBox="1"/>
          <p:nvPr/>
        </p:nvSpPr>
        <p:spPr>
          <a:xfrm>
            <a:off x="1017934" y="4204915"/>
            <a:ext cx="1054541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/>
              <a:t>Screens (Giao diện)</a:t>
            </a:r>
            <a:endParaRPr lang="vi-VN" sz="3200"/>
          </a:p>
          <a:p>
            <a:pPr marL="457200" indent="-457200">
              <a:buFontTx/>
              <a:buChar char="-"/>
            </a:pPr>
            <a:r>
              <a:rPr lang="en-US" sz="3200"/>
              <a:t>login_screen.dart: Đăng nhập / đăng ký bằng Firebase Auth.</a:t>
            </a:r>
            <a:endParaRPr lang="vi-VN" sz="3200"/>
          </a:p>
          <a:p>
            <a:pPr marL="457200" indent="-457200">
              <a:buFontTx/>
              <a:buChar char="-"/>
            </a:pPr>
            <a:r>
              <a:rPr lang="en-US" sz="3200"/>
              <a:t>rooms_screen.dart: Danh sách phòng chat, tạo &amp; chọn phòng.</a:t>
            </a:r>
            <a:endParaRPr lang="vi-VN" sz="3200"/>
          </a:p>
          <a:p>
            <a:pPr marL="457200" indent="-457200">
              <a:buFontTx/>
              <a:buChar char="-"/>
            </a:pPr>
            <a:r>
              <a:rPr lang="en-US" sz="3200"/>
              <a:t>chat_screen.dart: Hiển thị tin nhắn theo thời gian thực, hỗ trợ gửi / sửa / xóa.</a:t>
            </a:r>
            <a:endParaRPr lang="en-US" sz="300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80C4CF3-7BF1-4FCB-A570-C2A2298306C1}"/>
              </a:ext>
            </a:extLst>
          </p:cNvPr>
          <p:cNvSpPr/>
          <p:nvPr/>
        </p:nvSpPr>
        <p:spPr>
          <a:xfrm>
            <a:off x="579783" y="7373756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36BB47-28FD-472F-AF0E-C11A2A1E6829}"/>
              </a:ext>
            </a:extLst>
          </p:cNvPr>
          <p:cNvSpPr txBox="1"/>
          <p:nvPr/>
        </p:nvSpPr>
        <p:spPr>
          <a:xfrm>
            <a:off x="990600" y="7222018"/>
            <a:ext cx="10545417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/>
              <a:t>Services (Xử lý logic)</a:t>
            </a:r>
            <a:endParaRPr lang="vi-VN" sz="3200"/>
          </a:p>
          <a:p>
            <a:pPr marL="457200" indent="-457200">
              <a:buFontTx/>
              <a:buChar char="-"/>
            </a:pPr>
            <a:r>
              <a:rPr lang="en-US" sz="3200"/>
              <a:t>auth_service.dart: Quản lý đăng nhập, đăng ký, đăng xuất (FirebaseAuth).</a:t>
            </a:r>
            <a:endParaRPr lang="vi-VN" sz="3200"/>
          </a:p>
          <a:p>
            <a:pPr marL="457200" indent="-457200">
              <a:buFontTx/>
              <a:buChar char="-"/>
            </a:pPr>
            <a:r>
              <a:rPr lang="en-US" sz="3200"/>
              <a:t>database_service.dart: Xử lý dữ liệu phòng &amp; tin nhắn (Firebase Realtime Database).</a:t>
            </a:r>
          </a:p>
          <a:p>
            <a:pPr marL="457200" indent="-457200">
              <a:buFontTx/>
              <a:buChar char="-"/>
            </a:pPr>
            <a:endParaRPr lang="en-US" sz="300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33DB676-C44E-40B2-A5CA-7F9DDC928E0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1590685" y="2150837"/>
            <a:ext cx="6217203" cy="6259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5033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1056F3-8CC6-4055-B932-F079B55C0CD6}"/>
              </a:ext>
            </a:extLst>
          </p:cNvPr>
          <p:cNvSpPr/>
          <p:nvPr/>
        </p:nvSpPr>
        <p:spPr>
          <a:xfrm>
            <a:off x="609600" y="434519"/>
            <a:ext cx="9144000" cy="432426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vi-VN" sz="5500" b="1">
                <a:solidFill>
                  <a:srgbClr val="072E9F"/>
                </a:solidFill>
              </a:rPr>
              <a:t>TÀI LIỆU THAM KHẢO</a:t>
            </a:r>
            <a:endParaRPr lang="en-US" sz="5500" b="1"/>
          </a:p>
          <a:p>
            <a:endParaRPr lang="en-US" sz="5500" b="1"/>
          </a:p>
          <a:p>
            <a:endParaRPr lang="en-US" sz="5500" b="1"/>
          </a:p>
          <a:p>
            <a:endParaRPr lang="en-US" sz="5500"/>
          </a:p>
          <a:p>
            <a:endParaRPr lang="en-US" sz="55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28919E1-5799-419B-9187-4C95F0CC9A64}"/>
              </a:ext>
            </a:extLst>
          </p:cNvPr>
          <p:cNvSpPr/>
          <p:nvPr/>
        </p:nvSpPr>
        <p:spPr>
          <a:xfrm>
            <a:off x="970722" y="1638300"/>
            <a:ext cx="16687800" cy="1143000"/>
          </a:xfrm>
          <a:prstGeom prst="roundRect">
            <a:avLst/>
          </a:prstGeom>
          <a:solidFill>
            <a:srgbClr val="D7F9F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0079178-AC85-4EEA-9314-BE750C7D4266}"/>
              </a:ext>
            </a:extLst>
          </p:cNvPr>
          <p:cNvSpPr/>
          <p:nvPr/>
        </p:nvSpPr>
        <p:spPr>
          <a:xfrm>
            <a:off x="970722" y="3118620"/>
            <a:ext cx="16687800" cy="1371600"/>
          </a:xfrm>
          <a:prstGeom prst="roundRect">
            <a:avLst/>
          </a:prstGeom>
          <a:solidFill>
            <a:srgbClr val="D7F9F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5452603-3522-4AB4-BB0C-639907720833}"/>
              </a:ext>
            </a:extLst>
          </p:cNvPr>
          <p:cNvSpPr/>
          <p:nvPr/>
        </p:nvSpPr>
        <p:spPr>
          <a:xfrm>
            <a:off x="970722" y="4782509"/>
            <a:ext cx="16687800" cy="1371600"/>
          </a:xfrm>
          <a:prstGeom prst="roundRect">
            <a:avLst/>
          </a:prstGeom>
          <a:solidFill>
            <a:srgbClr val="D7F9F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28F4232-267A-41DA-880B-9253AADCEE5E}"/>
              </a:ext>
            </a:extLst>
          </p:cNvPr>
          <p:cNvSpPr/>
          <p:nvPr/>
        </p:nvSpPr>
        <p:spPr>
          <a:xfrm>
            <a:off x="970722" y="6446398"/>
            <a:ext cx="16687800" cy="1371600"/>
          </a:xfrm>
          <a:prstGeom prst="roundRect">
            <a:avLst/>
          </a:prstGeom>
          <a:solidFill>
            <a:srgbClr val="D7F9F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BD14E82-FBA8-451E-9225-AA93BBBCBD05}"/>
              </a:ext>
            </a:extLst>
          </p:cNvPr>
          <p:cNvSpPr/>
          <p:nvPr/>
        </p:nvSpPr>
        <p:spPr>
          <a:xfrm>
            <a:off x="970722" y="8121883"/>
            <a:ext cx="16687800" cy="1371600"/>
          </a:xfrm>
          <a:prstGeom prst="roundRect">
            <a:avLst/>
          </a:prstGeom>
          <a:solidFill>
            <a:srgbClr val="D7F9F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4E6602-32A6-4288-A998-5D89BCB1BB84}"/>
              </a:ext>
            </a:extLst>
          </p:cNvPr>
          <p:cNvSpPr txBox="1"/>
          <p:nvPr/>
        </p:nvSpPr>
        <p:spPr>
          <a:xfrm>
            <a:off x="1295400" y="1755592"/>
            <a:ext cx="15773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latin typeface="Arial" panose="020B0604020202020204" pitchFamily="34" charset="0"/>
                <a:cs typeface="Arial" panose="020B0604020202020204" pitchFamily="34" charset="0"/>
              </a:rPr>
              <a:t>[1] ThS. Bùi Phú Khuyên, Giáo trình “LẬP TRÌNH TRÊN THIẾT BỊ DI ĐỘNG”, </a:t>
            </a:r>
            <a:r>
              <a:rPr lang="vi-VN" sz="3000">
                <a:latin typeface="Arial" panose="020B0604020202020204" pitchFamily="34" charset="0"/>
                <a:cs typeface="Arial" panose="020B0604020202020204" pitchFamily="34" charset="0"/>
              </a:rPr>
              <a:t>Trường Đại học Công nghệ TP.HCM (HUTECH)</a:t>
            </a:r>
            <a:r>
              <a:rPr lang="en-US" sz="3000">
                <a:latin typeface="Arial" panose="020B0604020202020204" pitchFamily="34" charset="0"/>
                <a:cs typeface="Arial" panose="020B0604020202020204" pitchFamily="34" charset="0"/>
              </a:rPr>
              <a:t>, 2024</a:t>
            </a:r>
          </a:p>
          <a:p>
            <a:endParaRPr lang="en-US" sz="3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EF91B0-69F7-417C-9B38-7388F29B0040}"/>
              </a:ext>
            </a:extLst>
          </p:cNvPr>
          <p:cNvSpPr txBox="1"/>
          <p:nvPr/>
        </p:nvSpPr>
        <p:spPr>
          <a:xfrm>
            <a:off x="1295400" y="3350212"/>
            <a:ext cx="15925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latin typeface="Arial" panose="020B0604020202020204" pitchFamily="34" charset="0"/>
                <a:cs typeface="Arial" panose="020B0604020202020204" pitchFamily="34" charset="0"/>
              </a:rPr>
              <a:t>[2] Firebase, "Firebase Documentation," Google. [Online]. Available: </a:t>
            </a:r>
            <a:r>
              <a:rPr lang="en-US" sz="3000" u="sng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https://firebase.google.com/docs</a:t>
            </a:r>
            <a:endParaRPr lang="en-US" sz="3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6434C7-98BE-4651-A3C4-B302D7D46066}"/>
              </a:ext>
            </a:extLst>
          </p:cNvPr>
          <p:cNvSpPr txBox="1"/>
          <p:nvPr/>
        </p:nvSpPr>
        <p:spPr>
          <a:xfrm>
            <a:off x="1295400" y="5121995"/>
            <a:ext cx="1602187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latin typeface="Arial" panose="020B0604020202020204" pitchFamily="34" charset="0"/>
                <a:cs typeface="Arial" panose="020B0604020202020204" pitchFamily="34" charset="0"/>
              </a:rPr>
              <a:t>[3] Flutter, "Flutter Documentation," Google. [Online]. Available</a:t>
            </a:r>
            <a:r>
              <a:rPr lang="en-US" sz="3000" u="sng">
                <a:solidFill>
                  <a:srgbClr val="072E9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https://flutter.dev/docs</a:t>
            </a:r>
          </a:p>
          <a:p>
            <a:endParaRPr lang="en-US" sz="3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5D6590E-9998-406E-B698-E8F1594189B0}"/>
              </a:ext>
            </a:extLst>
          </p:cNvPr>
          <p:cNvSpPr txBox="1"/>
          <p:nvPr/>
        </p:nvSpPr>
        <p:spPr>
          <a:xfrm>
            <a:off x="1295400" y="6562687"/>
            <a:ext cx="1602187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latin typeface="Arial" panose="020B0604020202020204" pitchFamily="34" charset="0"/>
                <a:cs typeface="Arial" panose="020B0604020202020204" pitchFamily="34" charset="0"/>
              </a:rPr>
              <a:t>[4] Firebase, "Firebase Security &amp; Rules Guide," Google. [Online]. Available: </a:t>
            </a:r>
            <a:r>
              <a:rPr lang="en-US" sz="3000" u="sng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https://firebase.google.com/docs/database/security</a:t>
            </a:r>
            <a:endParaRPr lang="en-US" sz="3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58AF42-A153-4773-9CC1-5F1487ADA7D8}"/>
              </a:ext>
            </a:extLst>
          </p:cNvPr>
          <p:cNvSpPr txBox="1"/>
          <p:nvPr/>
        </p:nvSpPr>
        <p:spPr>
          <a:xfrm>
            <a:off x="1295400" y="8338930"/>
            <a:ext cx="1602187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latin typeface="Arial" panose="020B0604020202020204" pitchFamily="34" charset="0"/>
                <a:cs typeface="Arial" panose="020B0604020202020204" pitchFamily="34" charset="0"/>
              </a:rPr>
              <a:t>[5] FlutterFire, "FlutterFire Plugins Documentation." [Online]. Available: </a:t>
            </a:r>
            <a:r>
              <a:rPr lang="en-US" sz="3000" u="sng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https://firebase.flutter.dev/docs/overview</a:t>
            </a:r>
            <a:endParaRPr lang="en-US" sz="3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50418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</TotalTime>
  <Words>1100</Words>
  <Application>Microsoft Office PowerPoint</Application>
  <PresentationFormat>Custom</PresentationFormat>
  <Paragraphs>119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Asap</vt:lpstr>
      <vt:lpstr>Arial</vt:lpstr>
      <vt:lpstr>Cabin Bold</vt:lpstr>
      <vt:lpstr>Asap Medium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Bài thuyết trình Kinh doanh Đề xuất Tiếp thị Xanh mòng két Xanh dương Trắng Phong cách Hình học</dc:title>
  <dc:creator>ADMIN</dc:creator>
  <cp:lastModifiedBy>Trương Văn Tú</cp:lastModifiedBy>
  <cp:revision>41</cp:revision>
  <dcterms:created xsi:type="dcterms:W3CDTF">2006-08-16T00:00:00Z</dcterms:created>
  <dcterms:modified xsi:type="dcterms:W3CDTF">2025-11-11T01:45:57Z</dcterms:modified>
  <dc:identifier>DAG2mGYfcDU</dc:identifier>
</cp:coreProperties>
</file>